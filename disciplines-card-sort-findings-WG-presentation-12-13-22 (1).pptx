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43C_5161F2A4.xml" ContentType="application/vnd.ms-powerpoint.comment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omments/modernComment_441_51327ED6.xml" ContentType="application/vnd.ms-powerpoint.comment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omments/modernComment_442_8F32CECF.xml" ContentType="application/vnd.ms-powerpoint.comments+xml"/>
  <Override PartName="/ppt/notesSlides/notesSlide8.xml" ContentType="application/vnd.openxmlformats-officedocument.presentationml.notesSlide+xml"/>
  <Override PartName="/ppt/comments/modernComment_426_F6010F2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1" r:id="rId4"/>
    <p:sldMasterId id="2147483798" r:id="rId5"/>
    <p:sldMasterId id="2147483806" r:id="rId6"/>
    <p:sldMasterId id="2147483834" r:id="rId7"/>
  </p:sldMasterIdLst>
  <p:notesMasterIdLst>
    <p:notesMasterId r:id="rId25"/>
  </p:notesMasterIdLst>
  <p:handoutMasterIdLst>
    <p:handoutMasterId r:id="rId26"/>
  </p:handoutMasterIdLst>
  <p:sldIdLst>
    <p:sldId id="1066" r:id="rId8"/>
    <p:sldId id="1048" r:id="rId9"/>
    <p:sldId id="1082" r:id="rId10"/>
    <p:sldId id="1083" r:id="rId11"/>
    <p:sldId id="1081" r:id="rId12"/>
    <p:sldId id="1079" r:id="rId13"/>
    <p:sldId id="1085" r:id="rId14"/>
    <p:sldId id="1080" r:id="rId15"/>
    <p:sldId id="1084" r:id="rId16"/>
    <p:sldId id="1086" r:id="rId17"/>
    <p:sldId id="1088" r:id="rId18"/>
    <p:sldId id="1054" r:id="rId19"/>
    <p:sldId id="1087" r:id="rId20"/>
    <p:sldId id="1089" r:id="rId21"/>
    <p:sldId id="1090" r:id="rId22"/>
    <p:sldId id="1075" r:id="rId23"/>
    <p:sldId id="1062" r:id="rId2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C2FA61-3ACC-41ED-0FB7-52CD62A94D9B}" name="Bersofsky, Yvonne M. (Contractor)" initials="B(" userId="S::ybersofs@nsf.gov::3c7bec2b-1ca1-4d03-8681-ebf1032850a9" providerId="AD"/>
  <p188:author id="{D8C38990-4DEC-6F92-A1B2-AD5C2A5B38BD}" name="Reichers, Pamela (Contractor)" initials="R(" userId="S::preicher@nsf.gov::96cc1d3d-f8ae-44d0-b8cf-57d671761d4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SF" initials="N" lastIdx="2" clrIdx="0"/>
  <p:cmAuthor id="7" name="Desai, Parag (Contractor)" initials="DP(" lastIdx="25" clrIdx="7">
    <p:extLst>
      <p:ext uri="{19B8F6BF-5375-455C-9EA6-DF929625EA0E}">
        <p15:presenceInfo xmlns:p15="http://schemas.microsoft.com/office/powerpoint/2012/main" userId="S::0194203826@nsf.gov::8b4ad2ca-426c-4b14-90c2-564ec3b9cfbe" providerId="AD"/>
      </p:ext>
    </p:extLst>
  </p:cmAuthor>
  <p:cmAuthor id="1" name="Duong, Peggy" initials="DP" lastIdx="13" clrIdx="1">
    <p:extLst>
      <p:ext uri="{19B8F6BF-5375-455C-9EA6-DF929625EA0E}">
        <p15:presenceInfo xmlns:p15="http://schemas.microsoft.com/office/powerpoint/2012/main" userId="S-1-5-21-2121103884-806620016-247139262-11581" providerId="AD"/>
      </p:ext>
    </p:extLst>
  </p:cmAuthor>
  <p:cmAuthor id="8" name="Recto, Ellysha (Contractor)" initials="R(" lastIdx="5" clrIdx="8">
    <p:extLst>
      <p:ext uri="{19B8F6BF-5375-455C-9EA6-DF929625EA0E}">
        <p15:presenceInfo xmlns:p15="http://schemas.microsoft.com/office/powerpoint/2012/main" userId="S::7210278135@nsf.gov::05a1c78f-76da-48f1-ab9f-86f92d9d572e" providerId="AD"/>
      </p:ext>
    </p:extLst>
  </p:cmAuthor>
  <p:cmAuthor id="2" name="Ireland, Heather R." initials="IHR" lastIdx="10" clrIdx="2">
    <p:extLst>
      <p:ext uri="{19B8F6BF-5375-455C-9EA6-DF929625EA0E}">
        <p15:presenceInfo xmlns:p15="http://schemas.microsoft.com/office/powerpoint/2012/main" userId="S-1-5-21-2121103884-806620016-247139262-104813" providerId="AD"/>
      </p:ext>
    </p:extLst>
  </p:cmAuthor>
  <p:cmAuthor id="9" name="Karlsson, Ashley (Contractor)" initials="K(" lastIdx="1" clrIdx="9">
    <p:extLst>
      <p:ext uri="{19B8F6BF-5375-455C-9EA6-DF929625EA0E}">
        <p15:presenceInfo xmlns:p15="http://schemas.microsoft.com/office/powerpoint/2012/main" userId="S::7081109016@nsf.gov::feec5ff2-cd2d-44a9-8eb5-6c14185ca65a" providerId="AD"/>
      </p:ext>
    </p:extLst>
  </p:cmAuthor>
  <p:cmAuthor id="3" name="Turner, Jessica L" initials="TJL" lastIdx="18" clrIdx="3">
    <p:extLst>
      <p:ext uri="{19B8F6BF-5375-455C-9EA6-DF929625EA0E}">
        <p15:presenceInfo xmlns:p15="http://schemas.microsoft.com/office/powerpoint/2012/main" userId="S::7587500899@nsf.gov::8b820061-5f42-4544-ba99-c7b2b468791d" providerId="AD"/>
      </p:ext>
    </p:extLst>
  </p:cmAuthor>
  <p:cmAuthor id="4" name="7587500899@nsf.gov" initials="7" lastIdx="1" clrIdx="4">
    <p:extLst>
      <p:ext uri="{19B8F6BF-5375-455C-9EA6-DF929625EA0E}">
        <p15:presenceInfo xmlns:p15="http://schemas.microsoft.com/office/powerpoint/2012/main" userId="7587500899@nsf.gov" providerId="None"/>
      </p:ext>
    </p:extLst>
  </p:cmAuthor>
  <p:cmAuthor id="5" name="Quinn, Brittany (Contractor)" initials="QB(" lastIdx="38" clrIdx="5">
    <p:extLst>
      <p:ext uri="{19B8F6BF-5375-455C-9EA6-DF929625EA0E}">
        <p15:presenceInfo xmlns:p15="http://schemas.microsoft.com/office/powerpoint/2012/main" userId="S::7418054617@nsf.gov::1c83aac8-04ad-4fa8-9ba3-6426179971f5" providerId="AD"/>
      </p:ext>
    </p:extLst>
  </p:cmAuthor>
  <p:cmAuthor id="6" name="Ireland, Heather R." initials="IHR [2]" lastIdx="1" clrIdx="6">
    <p:extLst>
      <p:ext uri="{19B8F6BF-5375-455C-9EA6-DF929625EA0E}">
        <p15:presenceInfo xmlns:p15="http://schemas.microsoft.com/office/powerpoint/2012/main" userId="S::0129750165@nsf.gov::84f5d1c0-5628-4add-82ac-ab00225f4cf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EE6A"/>
    <a:srgbClr val="FFD7CF"/>
    <a:srgbClr val="FFE851"/>
    <a:srgbClr val="FFD579"/>
    <a:srgbClr val="FF0000"/>
    <a:srgbClr val="941651"/>
    <a:srgbClr val="929292"/>
    <a:srgbClr val="FFFC00"/>
    <a:srgbClr val="FF8AD8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CDF1E-C821-4146-85BA-F34963AABE4B}" v="5" dt="2022-12-12T14:08:52.129"/>
    <p1510:client id="{2597D3B5-0C36-C38C-F046-505367256E15}" v="928" dt="2022-12-12T14:20:06.264"/>
    <p1510:client id="{41DC4CCE-B0B2-7044-B108-68FB18E23B3F}" vWet="2" dt="2022-12-12T14:10:29.403"/>
    <p1510:client id="{42EFD1C9-541F-8974-8802-5E3BD507D5B1}" v="20" dt="2022-12-09T14:48:02.863"/>
    <p1510:client id="{4E32B107-7C8A-49D5-8483-813639162746}" v="60" dt="2022-12-12T16:02:01.018"/>
    <p1510:client id="{61A3FB47-88C1-1C29-6B1A-58BEA7FC9A8F}" v="3" dt="2022-12-09T19:57:45.403"/>
    <p1510:client id="{6EC7E2D1-4316-9034-A406-478930276689}" v="11" dt="2022-12-16T14:37:24.985"/>
    <p1510:client id="{6FE1CD96-1B73-A445-E582-84A242F014AD}" v="2" dt="2022-12-09T20:45:45.945"/>
    <p1510:client id="{75179D79-485F-4527-AAC0-85C394DA665D}" v="11" dt="2022-12-09T16:32:59.347"/>
    <p1510:client id="{925DE8D3-871B-45D6-8B88-BB1A503E5843}" v="61" dt="2022-12-09T15:00:52.332"/>
    <p1510:client id="{A8F4226C-0D1E-402C-165D-1083D5602B25}" v="17" dt="2022-12-09T15:15:24.366"/>
    <p1510:client id="{B4557883-88FA-705F-C3C3-2C97BFBBF74D}" v="15" dt="2022-12-09T20:17:27.027"/>
    <p1510:client id="{C6D7203C-0072-42B6-9662-4F4498AE0AD8}" v="42" dt="2022-12-09T14:56:07.574"/>
    <p1510:client id="{EAAD36B5-D33E-12F6-9B08-C128E091CAF9}" v="6" dt="2022-12-09T20:59:55.303"/>
    <p1510:client id="{F2BCA2C4-D228-48B0-830A-AA5EF53997A5}" v="11" dt="2022-12-12T14:28:51.584"/>
    <p1510:client id="{F2F78AD2-DDF3-9040-688D-21A5EDAD05AD}" v="30" dt="2022-12-09T18:28:56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208"/>
        <p:guide pos="283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438_E2FC4218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43E_93C3E0F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440_F3DF0D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43F_3309058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441_51327ED6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C97-6048-8BE6-D159B98CE55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C97-6048-8BE6-D159B98CE55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4C97-6048-8BE6-D159B98CE55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spc="0" baseline="0">
                      <a:solidFill>
                        <a:schemeClr val="accent2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97-6048-8BE6-D159B98CE5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spc="0" baseline="0">
                      <a:solidFill>
                        <a:schemeClr val="accent2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3399527312006452"/>
                      <c:h val="0.1409840455131226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C97-6048-8BE6-D159B98CE55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spc="0" baseline="0">
                      <a:solidFill>
                        <a:schemeClr val="accent2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6738101202074971"/>
                      <c:h val="7.52432866897080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C97-6048-8BE6-D159B98CE5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spc="0" baseline="0">
                    <a:solidFill>
                      <a:schemeClr val="accent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 preference</c:v>
                </c:pt>
                <c:pt idx="1">
                  <c:v>Areas of Expertise</c:v>
                </c:pt>
                <c:pt idx="2">
                  <c:v>Disciplines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0.66</c:v>
                </c:pt>
                <c:pt idx="1">
                  <c:v>0.32</c:v>
                </c:pt>
                <c:pt idx="2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97-6048-8BE6-D159B98CE553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7F7-0F44-8A86-AA4DD2E2EE9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7F7-0F44-8A86-AA4DD2E2EE9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7F7-0F44-8A86-AA4DD2E2EE9A}"/>
              </c:ext>
            </c:extLst>
          </c:dPt>
          <c:dLbls>
            <c:dLbl>
              <c:idx val="0"/>
              <c:layout>
                <c:manualLayout>
                  <c:x val="0.19915963011340768"/>
                  <c:y val="0.17173108649443067"/>
                </c:manualLayout>
              </c:layout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dk2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A7F7-0F44-8A86-AA4DD2E2EE9A}"/>
                </c:ext>
              </c:extLst>
            </c:dLbl>
            <c:dLbl>
              <c:idx val="1"/>
              <c:layout>
                <c:manualLayout>
                  <c:x val="-0.18919158642722722"/>
                  <c:y val="-0.15599341082933832"/>
                </c:manualLayout>
              </c:layout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dk2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A7F7-0F44-8A86-AA4DD2E2EE9A}"/>
                </c:ext>
              </c:extLst>
            </c:dLbl>
            <c:dLbl>
              <c:idx val="2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7F7-0F44-8A86-AA4DD2E2EE9A}"/>
                </c:ext>
              </c:extLst>
            </c:dLbl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F7-0F44-8A86-AA4DD2E2EE9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76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CA2-F442-B87D-9F7499A1F40A}"/>
              </c:ext>
            </c:extLst>
          </c:dPt>
          <c:dPt>
            <c:idx val="1"/>
            <c:bubble3D val="0"/>
            <c:spPr>
              <a:solidFill>
                <a:schemeClr val="accent2">
                  <a:tint val="77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CA2-F442-B87D-9F7499A1F40A}"/>
              </c:ext>
            </c:extLst>
          </c:dPt>
          <c:dPt>
            <c:idx val="2"/>
            <c:bubble3D val="0"/>
            <c:spPr>
              <a:solidFill>
                <a:schemeClr val="accent2">
                  <a:tint val="3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CA2-F442-B87D-9F7499A1F40A}"/>
              </c:ext>
            </c:extLst>
          </c:dPt>
          <c:dLbls>
            <c:dLbl>
              <c:idx val="0"/>
              <c:layout>
                <c:manualLayout>
                  <c:x val="-0.24190268745582391"/>
                  <c:y val="-7.4285739688261937E-3"/>
                </c:manualLayout>
              </c:layout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2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5533076442799418"/>
                      <c:h val="0.1259589002154169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CA2-F442-B87D-9F7499A1F40A}"/>
                </c:ext>
              </c:extLst>
            </c:dLbl>
            <c:dLbl>
              <c:idx val="1"/>
              <c:layout>
                <c:manualLayout>
                  <c:x val="0.24085548967462989"/>
                  <c:y val="-8.9142887625914876E-3"/>
                </c:manualLayout>
              </c:layout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2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ACA2-F442-B87D-9F7499A1F40A}"/>
                </c:ext>
              </c:extLst>
            </c:dLbl>
            <c:dLbl>
              <c:idx val="2"/>
              <c:spPr>
                <a:solidFill>
                  <a:schemeClr val="lt1"/>
                </a:solidFill>
                <a:ln>
                  <a:noFill/>
                </a:ln>
                <a:effectLst/>
              </c:spPr>
              <c:txPr>
                <a:bodyPr rot="0" spcFirstLastPara="1" vertOverflow="ellipsis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2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ACA2-F442-B87D-9F7499A1F40A}"/>
                </c:ext>
              </c:extLst>
            </c:dLbl>
            <c:spPr>
              <a:ln>
                <a:noFill/>
              </a:ln>
              <a:effectLst/>
            </c:spPr>
            <c:txPr>
              <a:bodyPr rot="0" spcFirstLastPara="1" vertOverflow="ellipsis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spc="0" baseline="0">
                    <a:solidFill>
                      <a:schemeClr val="accent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Same</c:v>
                </c:pt>
                <c:pt idx="1">
                  <c:v>Different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0.52</c:v>
                </c:pt>
                <c:pt idx="1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CA2-F442-B87D-9F7499A1F40A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Social Sciences</c:v>
                </c:pt>
                <c:pt idx="1">
                  <c:v>Organism</c:v>
                </c:pt>
                <c:pt idx="2">
                  <c:v>Entrepreneurship, Innovation, and Commercialization</c:v>
                </c:pt>
                <c:pt idx="3">
                  <c:v>Geosciences</c:v>
                </c:pt>
                <c:pt idx="4">
                  <c:v>STEM Education</c:v>
                </c:pt>
                <c:pt idx="5">
                  <c:v>Biological/Life Sciences</c:v>
                </c:pt>
                <c:pt idx="6">
                  <c:v>Chemistry</c:v>
                </c:pt>
                <c:pt idx="7">
                  <c:v>Health and Allied Sciences</c:v>
                </c:pt>
                <c:pt idx="8">
                  <c:v>Physics and Astronomy</c:v>
                </c:pt>
                <c:pt idx="9">
                  <c:v>Engineering</c:v>
                </c:pt>
                <c:pt idx="10">
                  <c:v>Psychology</c:v>
                </c:pt>
                <c:pt idx="11">
                  <c:v>Materials Research</c:v>
                </c:pt>
                <c:pt idx="12">
                  <c:v>Computer and Information Science</c:v>
                </c:pt>
                <c:pt idx="13">
                  <c:v>Mathematical Sciences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0.25</c:v>
                </c:pt>
                <c:pt idx="4">
                  <c:v>0.4</c:v>
                </c:pt>
                <c:pt idx="5">
                  <c:v>0.43</c:v>
                </c:pt>
                <c:pt idx="6">
                  <c:v>0.5</c:v>
                </c:pt>
                <c:pt idx="7">
                  <c:v>0.67</c:v>
                </c:pt>
                <c:pt idx="8">
                  <c:v>0.75</c:v>
                </c:pt>
                <c:pt idx="9">
                  <c:v>0.8</c:v>
                </c:pt>
                <c:pt idx="10">
                  <c:v>0.83</c:v>
                </c:pt>
                <c:pt idx="11">
                  <c:v>0.86</c:v>
                </c:pt>
                <c:pt idx="12">
                  <c:v>0.89</c:v>
                </c:pt>
                <c:pt idx="1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95-9141-BD3E-A9C2D63E845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46260063"/>
        <c:axId val="2046261711"/>
      </c:barChart>
      <c:catAx>
        <c:axId val="20462600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6261711"/>
        <c:crosses val="autoZero"/>
        <c:auto val="1"/>
        <c:lblAlgn val="ctr"/>
        <c:lblOffset val="100"/>
        <c:noMultiLvlLbl val="0"/>
      </c:catAx>
      <c:valAx>
        <c:axId val="2046261711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2046260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cap="rnd">
      <a:solidFill>
        <a:schemeClr val="accent2">
          <a:lumMod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Ranked Cards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Organism</c:v>
                </c:pt>
                <c:pt idx="1">
                  <c:v>Entrepreneurship, Innovation, and Commercialization</c:v>
                </c:pt>
                <c:pt idx="2">
                  <c:v>Mathematical Sciences</c:v>
                </c:pt>
                <c:pt idx="3">
                  <c:v>Health and Allied Sciences</c:v>
                </c:pt>
                <c:pt idx="4">
                  <c:v>Geosciences</c:v>
                </c:pt>
                <c:pt idx="5">
                  <c:v>Physics and Astronomy</c:v>
                </c:pt>
                <c:pt idx="6">
                  <c:v>Social Sciences</c:v>
                </c:pt>
                <c:pt idx="7">
                  <c:v>STEM Education</c:v>
                </c:pt>
                <c:pt idx="8">
                  <c:v>Engineering</c:v>
                </c:pt>
                <c:pt idx="9">
                  <c:v>Psychology</c:v>
                </c:pt>
                <c:pt idx="10">
                  <c:v>Materials Research</c:v>
                </c:pt>
                <c:pt idx="11">
                  <c:v>Chemistry</c:v>
                </c:pt>
                <c:pt idx="12">
                  <c:v>Computer and Information Science</c:v>
                </c:pt>
                <c:pt idx="13">
                  <c:v>Biological/Life Sciences</c:v>
                </c:pt>
              </c:strCache>
            </c:strRef>
          </c:cat>
          <c:val>
            <c:numRef>
              <c:f>Sheet1!$B$2:$B$15</c:f>
              <c:numCache>
                <c:formatCode>0</c:formatCode>
                <c:ptCount val="1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  <c:pt idx="1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DF-9B4B-9632-A6A4878CDD6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46260063"/>
        <c:axId val="2046261711"/>
      </c:barChart>
      <c:catAx>
        <c:axId val="204626006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6261711"/>
        <c:crosses val="autoZero"/>
        <c:auto val="0"/>
        <c:lblAlgn val="ctr"/>
        <c:lblOffset val="100"/>
        <c:noMultiLvlLbl val="0"/>
      </c:catAx>
      <c:valAx>
        <c:axId val="2046261711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046260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cap="rnd">
      <a:solidFill>
        <a:schemeClr val="accent2">
          <a:lumMod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omments/modernComment_43C_5161F2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16D35B-71DB-47E3-A760-E5D0834B2FA8}" authorId="{D8C38990-4DEC-6F92-A1B2-AD5C2A5B38BD}" status="resolved" created="2022-12-12T14:01:45.421" complete="100000">
    <pc:sldMkLst xmlns:pc="http://schemas.microsoft.com/office/powerpoint/2013/main/command">
      <pc:docMk/>
      <pc:sldMk cId="1365373604" sldId="1084"/>
    </pc:sldMkLst>
    <p188:txBody>
      <a:bodyPr/>
      <a:lstStyle/>
      <a:p>
        <a:r>
          <a:rPr lang="en-US"/>
          <a:t>...included in the list of cards you sorted</a:t>
        </a:r>
      </a:p>
    </p188:txBody>
  </p188:cm>
</p188:cmLst>
</file>

<file path=ppt/comments/modernComment_426_F6010F2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9B700F5-9259-42AF-B68D-75F4A9CCEDDB}" authorId="{D8C38990-4DEC-6F92-A1B2-AD5C2A5B38BD}" status="resolved" created="2022-12-12T14:08:52.129" complete="100000">
    <pc:sldMkLst xmlns:pc="http://schemas.microsoft.com/office/powerpoint/2013/main/command">
      <pc:docMk/>
      <pc:sldMk cId="4127264554" sldId="1062"/>
    </pc:sldMkLst>
    <p188:replyLst>
      <p188:reply id="{827A1FEC-8046-421E-9609-CD3288FB2AF4}" authorId="{C6C2FA61-3ACC-41ED-0FB7-52CD62A94D9B}" created="2022-12-12T14:20:02.030">
        <p188:txBody>
          <a:bodyPr/>
          <a:lstStyle/>
          <a:p>
            <a:r>
              <a:rPr lang="en-US"/>
              <a:t>Search will definitely be one way users find the disciplines. We still need to evaluate the data and options and are not prepared to make any recommendations yet.</a:t>
            </a:r>
          </a:p>
        </p188:txBody>
      </p188:reply>
    </p188:replyLst>
    <p188:txBody>
      <a:bodyPr/>
      <a:lstStyle/>
      <a:p>
        <a:r>
          <a:rPr lang="en-US"/>
          <a:t>It seems like clear categories may not be possible when so many fall under multiple multiple categories.  Should search be the primary way areas of expertise are added?</a:t>
        </a:r>
      </a:p>
    </p188:txBody>
  </p188:cm>
</p188:cmLst>
</file>

<file path=ppt/comments/modernComment_441_51327E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567DCC-3F8E-44E0-A896-0A782CC31B3A}" authorId="{D8C38990-4DEC-6F92-A1B2-AD5C2A5B38BD}" status="resolved" created="2022-12-12T14:04:27.423" complete="100000">
    <pc:sldMkLst xmlns:pc="http://schemas.microsoft.com/office/powerpoint/2013/main/command">
      <pc:docMk/>
      <pc:sldMk cId="1362263766" sldId="1089"/>
    </pc:sldMkLst>
    <p188:txBody>
      <a:bodyPr/>
      <a:lstStyle/>
      <a:p>
        <a:r>
          <a:rPr lang="en-US"/>
          <a:t>What does most popular mean in the card sort context?</a:t>
        </a:r>
      </a:p>
    </p188:txBody>
  </p188:cm>
</p188:cmLst>
</file>

<file path=ppt/comments/modernComment_442_8F32CEC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7DE6109-A30F-484B-B343-5EA202961E17}" authorId="{D8C38990-4DEC-6F92-A1B2-AD5C2A5B38BD}" status="resolved" created="2022-12-12T14:06:16.455" complete="100000">
    <pc:sldMkLst xmlns:pc="http://schemas.microsoft.com/office/powerpoint/2013/main/command">
      <pc:docMk/>
      <pc:sldMk cId="2402471631" sldId="1090"/>
    </pc:sldMkLst>
    <p188:txBody>
      <a:bodyPr/>
      <a:lstStyle/>
      <a:p>
        <a:r>
          <a:rPr lang="en-US"/>
          <a:t>Is it users were divided or users sorted cards into different categories?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812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37840" cy="464820"/>
          </a:xfrm>
          <a:prstGeom prst="rect">
            <a:avLst/>
          </a:prstGeom>
        </p:spPr>
        <p:txBody>
          <a:bodyPr vert="horz" lIns="93150" tIns="46577" rIns="93150" bIns="46577" rtlCol="0"/>
          <a:lstStyle>
            <a:lvl1pPr algn="l">
              <a:lnSpc>
                <a:spcPct val="120000"/>
              </a:lnSpc>
              <a:spcBef>
                <a:spcPct val="20000"/>
              </a:spcBef>
              <a:spcAft>
                <a:spcPct val="25000"/>
              </a:spcAft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2"/>
            <a:ext cx="3037840" cy="464820"/>
          </a:xfrm>
          <a:prstGeom prst="rect">
            <a:avLst/>
          </a:prstGeom>
        </p:spPr>
        <p:txBody>
          <a:bodyPr vert="horz" lIns="93150" tIns="46577" rIns="93150" bIns="46577" rtlCol="0"/>
          <a:lstStyle>
            <a:lvl1pPr algn="r">
              <a:lnSpc>
                <a:spcPct val="120000"/>
              </a:lnSpc>
              <a:spcBef>
                <a:spcPct val="20000"/>
              </a:spcBef>
              <a:spcAft>
                <a:spcPct val="25000"/>
              </a:spcAft>
              <a:defRPr sz="1200"/>
            </a:lvl1pPr>
          </a:lstStyle>
          <a:p>
            <a:pPr>
              <a:defRPr/>
            </a:pPr>
            <a:fld id="{FDDEBE05-A7FC-4847-9B18-29B1B2F4F1AF}" type="datetimeFigureOut">
              <a:rPr lang="en-US"/>
              <a:pPr>
                <a:defRPr/>
              </a:pPr>
              <a:t>12/16/2022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0" tIns="46577" rIns="93150" bIns="4657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3150" tIns="46577" rIns="93150" bIns="46577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4820"/>
          </a:xfrm>
          <a:prstGeom prst="rect">
            <a:avLst/>
          </a:prstGeom>
        </p:spPr>
        <p:txBody>
          <a:bodyPr vert="horz" lIns="93150" tIns="46577" rIns="93150" bIns="46577" rtlCol="0" anchor="b"/>
          <a:lstStyle>
            <a:lvl1pPr algn="l">
              <a:lnSpc>
                <a:spcPct val="120000"/>
              </a:lnSpc>
              <a:spcBef>
                <a:spcPct val="20000"/>
              </a:spcBef>
              <a:spcAft>
                <a:spcPct val="25000"/>
              </a:spcAft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4820"/>
          </a:xfrm>
          <a:prstGeom prst="rect">
            <a:avLst/>
          </a:prstGeom>
        </p:spPr>
        <p:txBody>
          <a:bodyPr vert="horz" lIns="93150" tIns="46577" rIns="93150" bIns="46577" rtlCol="0" anchor="b"/>
          <a:lstStyle>
            <a:lvl1pPr algn="r">
              <a:lnSpc>
                <a:spcPct val="120000"/>
              </a:lnSpc>
              <a:spcBef>
                <a:spcPct val="20000"/>
              </a:spcBef>
              <a:spcAft>
                <a:spcPct val="25000"/>
              </a:spcAft>
              <a:defRPr sz="1200"/>
            </a:lvl1pPr>
          </a:lstStyle>
          <a:p>
            <a:pPr>
              <a:defRPr/>
            </a:pPr>
            <a:fld id="{AFAD0D02-C06C-4DCA-A1DC-EC7DC3A5FC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2323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AD0D02-C06C-4DCA-A1DC-EC7DC3A5FCA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11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AD0D02-C06C-4DCA-A1DC-EC7DC3A5FCA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3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AD0D02-C06C-4DCA-A1DC-EC7DC3A5FCA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9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AD0D02-C06C-4DCA-A1DC-EC7DC3A5FCA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29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AD0D02-C06C-4DCA-A1DC-EC7DC3A5FCA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44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AD0D02-C06C-4DCA-A1DC-EC7DC3A5FCA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18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AD0D02-C06C-4DCA-A1DC-EC7DC3A5FCA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74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AD0D02-C06C-4DCA-A1DC-EC7DC3A5FCA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10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6705600" y="6247493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b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E79733-B2AA-A248-A208-70CF1E68113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hcSlideMaster.Title and ContentHeader">
            <a:extLst>
              <a:ext uri="{FF2B5EF4-FFF2-40B4-BE49-F238E27FC236}">
                <a16:creationId xmlns:a16="http://schemas.microsoft.com/office/drawing/2014/main" id="{6C68DBFB-93F4-CF17-D9C6-8D8B4D83DAA7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9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C6735-4C6D-6A49-8B2F-386E66B619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hcSlideMaster151.Custom LayoutHeader">
            <a:extLst>
              <a:ext uri="{FF2B5EF4-FFF2-40B4-BE49-F238E27FC236}">
                <a16:creationId xmlns:a16="http://schemas.microsoft.com/office/drawing/2014/main" id="{E93707FC-1F84-6C01-BBFA-310191E1AEC8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1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C6735-4C6D-6A49-8B2F-386E66B619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cSlideMaster151.Title SlideHeader">
            <a:extLst>
              <a:ext uri="{FF2B5EF4-FFF2-40B4-BE49-F238E27FC236}">
                <a16:creationId xmlns:a16="http://schemas.microsoft.com/office/drawing/2014/main" id="{4FE223EE-8F9D-B051-ABD7-4FDB98277B81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86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hcSlideMaster151.Title and ContentHeader">
            <a:extLst>
              <a:ext uri="{FF2B5EF4-FFF2-40B4-BE49-F238E27FC236}">
                <a16:creationId xmlns:a16="http://schemas.microsoft.com/office/drawing/2014/main" id="{F6363A7E-EBD8-C5CC-58F6-2A694204C0B5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84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cSlideMaster151.Title OnlyHeader">
            <a:extLst>
              <a:ext uri="{FF2B5EF4-FFF2-40B4-BE49-F238E27FC236}">
                <a16:creationId xmlns:a16="http://schemas.microsoft.com/office/drawing/2014/main" id="{371FAF21-E011-2A0C-2F2E-69690211659B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37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166" y="381000"/>
            <a:ext cx="8296736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5176" y="1654176"/>
            <a:ext cx="3776041" cy="39036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1939" y="1654175"/>
            <a:ext cx="3777507" cy="1874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1939" y="3681414"/>
            <a:ext cx="3777507" cy="18764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hcSlideMaster151.Title, Text, and 2 ContentHeader">
            <a:extLst>
              <a:ext uri="{FF2B5EF4-FFF2-40B4-BE49-F238E27FC236}">
                <a16:creationId xmlns:a16="http://schemas.microsoft.com/office/drawing/2014/main" id="{30F97DA2-E6F0-897F-B585-ADCA0097C9C5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2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53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119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7044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7173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167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5144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042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2684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268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8616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906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D4381E39-AF51-46B8-B04E-947172197504}" type="slidenum">
              <a:rPr lang="en-US" smtClean="0">
                <a:solidFill>
                  <a:srgbClr val="000000"/>
                </a:solidFill>
                <a:latin typeface="Arial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31336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60254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4F0E36-99BD-4DF7-82C2-603FEF2B9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768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5962"/>
            <a:ext cx="8229600" cy="8080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1CAE108-85D9-41BF-AADC-314B70957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43836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D2E7A64-54CC-45B3-ABC3-356684833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4712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B20196-9C3C-4BED-80FB-521A6EE02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84958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ED7570-C201-425A-9EA8-E7C2E258BC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2484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82739AC-CFE3-4578-AD7B-78B994A0C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3598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0803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22255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3F6F533-D56A-484D-95AC-3BC95632E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00598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8A02152-D7A7-4133-AB6B-FC8FBE2F1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3136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BBFB6F9-0C0E-4E08-B80F-5A952A149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61897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00088"/>
            <a:ext cx="8763000" cy="44291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6900" y="1384300"/>
            <a:ext cx="4083050" cy="4940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32350" y="1384300"/>
            <a:ext cx="4083050" cy="4940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575C7-FA1B-49BE-A8EB-FB3B6433FC0F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5150824"/>
      </p:ext>
    </p:extLst>
  </p:cSld>
  <p:clrMapOvr>
    <a:masterClrMapping/>
  </p:clrMapOvr>
  <p:transition>
    <p:cover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23F1A-A627-C14E-B2FC-C64C8622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6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C6735-4C6D-6A49-8B2F-386E66B619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" y="118872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467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799" r:id="rId2"/>
    <p:sldLayoutId id="2147483803" r:id="rId3"/>
    <p:sldLayoutId id="2147483804" r:id="rId4"/>
    <p:sldLayoutId id="2147483805" r:id="rId5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SF_PresoDesign_v01.jpg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2028" y="0"/>
            <a:ext cx="9135885" cy="685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7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SF_PresoDesign_v01a.jp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085" y="3043"/>
            <a:ext cx="9135887" cy="685495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91C9AED-A955-44CD-AC4A-4648256E7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340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43C_5161F2A4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laboration.inside.nsf.gov/oirm/dis/AMWG/_layouts/15/WopiFrame.aspx?sourcedoc=%7b499F7C33-373B-43D8-814D-4FCCF91F409E%7d&amp;file=AcctMgmt_AreasOfExpertise_2022-07-26v2.xlsx&amp;action=defaul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441_51327ED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442_8F32CECF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426_F6010F2A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D65FA-8AAB-2340-9B95-37A96E34F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b="0" cap="none" dirty="0"/>
              <a:t>Disciplines (Areas of Expertise) Menu Card Sorting Study: Summary &amp; Findings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3D50D-FFCA-7B43-A324-BE50B3D14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959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115D-F01E-1B46-9FA4-7A6BA6FA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23962"/>
            <a:ext cx="8229600" cy="808038"/>
          </a:xfrm>
        </p:spPr>
        <p:txBody>
          <a:bodyPr lIns="91440" tIns="45720" rIns="91440" bIns="45720" anchor="t"/>
          <a:lstStyle/>
          <a:p>
            <a:pPr algn="l"/>
            <a:r>
              <a:rPr lang="en-US" sz="3100"/>
              <a:t>Card Sorting Study Overview</a:t>
            </a:r>
            <a:endParaRPr lang="en-US" sz="310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193BD-776A-E348-8748-C0258DDE6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99" y="1583748"/>
            <a:ext cx="8438071" cy="4525963"/>
          </a:xfrm>
        </p:spPr>
        <p:txBody>
          <a:bodyPr lIns="91440" tIns="45720" rIns="91440" bIns="45720" anchor="t"/>
          <a:lstStyle/>
          <a:p>
            <a:pPr marL="0" indent="0">
              <a:spcBef>
                <a:spcPts val="1080"/>
              </a:spcBef>
              <a:buNone/>
            </a:pPr>
            <a:r>
              <a:rPr lang="en-US" sz="2000" b="1"/>
              <a:t>Background</a:t>
            </a:r>
          </a:p>
          <a:p>
            <a:pPr marL="0" indent="0">
              <a:spcBef>
                <a:spcPts val="1080"/>
              </a:spcBef>
              <a:buNone/>
            </a:pPr>
            <a:r>
              <a:rPr lang="en-US" sz="1600"/>
              <a:t>During Reviewer Integration usability testing, when asked to find specific subdisciplines in the Disciplines menu, most users had trouble completing the following tasks:</a:t>
            </a:r>
          </a:p>
          <a:p>
            <a:pPr lvl="1">
              <a:spcBef>
                <a:spcPts val="1080"/>
              </a:spcBef>
            </a:pPr>
            <a:r>
              <a:rPr lang="en-US" sz="1600"/>
              <a:t>Identifying the main discipline (parent category) associated with a particular subdiscipline</a:t>
            </a:r>
          </a:p>
          <a:p>
            <a:pPr lvl="1">
              <a:spcBef>
                <a:spcPts val="1080"/>
              </a:spcBef>
            </a:pPr>
            <a:r>
              <a:rPr lang="en-US" sz="1600"/>
              <a:t>Locating a particular subdiscipline in the menu</a:t>
            </a:r>
          </a:p>
          <a:p>
            <a:pPr marL="0" indent="0">
              <a:spcBef>
                <a:spcPts val="1080"/>
              </a:spcBef>
              <a:buNone/>
            </a:pPr>
            <a:endParaRPr lang="en-US" sz="1600"/>
          </a:p>
          <a:p>
            <a:pPr marL="0" indent="0">
              <a:spcBef>
                <a:spcPts val="1080"/>
              </a:spcBef>
              <a:buNone/>
            </a:pPr>
            <a:r>
              <a:rPr lang="en-US" sz="2000" b="1"/>
              <a:t>Goals</a:t>
            </a:r>
            <a:endParaRPr lang="en-US" sz="1400"/>
          </a:p>
          <a:p>
            <a:pPr lvl="1">
              <a:spcBef>
                <a:spcPts val="1080"/>
              </a:spcBef>
            </a:pPr>
            <a:r>
              <a:rPr lang="en-US" sz="1600"/>
              <a:t>Discover how target users mentally organize and define areas of expertise/disciplines </a:t>
            </a:r>
          </a:p>
          <a:p>
            <a:pPr lvl="1">
              <a:spcBef>
                <a:spcPts val="1080"/>
              </a:spcBef>
            </a:pPr>
            <a:r>
              <a:rPr lang="en-US" sz="1600"/>
              <a:t>Determine whether the designed Areas of Expertise interaction makes sense to them</a:t>
            </a:r>
          </a:p>
          <a:p>
            <a:pPr marL="57150" indent="0">
              <a:buNone/>
            </a:pPr>
            <a:endParaRPr lang="en-US" sz="2000" b="1" u="s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2AA5-6F59-DD4C-9821-D853041AE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1952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115D-F01E-1B46-9FA4-7A6BA6FA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23962"/>
            <a:ext cx="8229600" cy="808038"/>
          </a:xfrm>
        </p:spPr>
        <p:txBody>
          <a:bodyPr lIns="91440" tIns="45720" rIns="91440" bIns="45720" anchor="t"/>
          <a:lstStyle/>
          <a:p>
            <a:pPr algn="l"/>
            <a:r>
              <a:rPr lang="en-US" sz="3100"/>
              <a:t>Card Sorting Study Overview</a:t>
            </a:r>
            <a:endParaRPr lang="en-US" sz="310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193BD-776A-E348-8748-C0258DDE6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99" y="1557990"/>
            <a:ext cx="8438071" cy="452596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000" b="1"/>
              <a:t>Format</a:t>
            </a:r>
          </a:p>
          <a:p>
            <a:pPr>
              <a:spcBef>
                <a:spcPts val="1800"/>
              </a:spcBef>
            </a:pPr>
            <a:r>
              <a:rPr lang="en-US" sz="1800"/>
              <a:t>Automated, unmoderated tool (Optimal Sort)</a:t>
            </a:r>
          </a:p>
          <a:p>
            <a:pPr>
              <a:spcBef>
                <a:spcPts val="1800"/>
              </a:spcBef>
            </a:pPr>
            <a:r>
              <a:rPr lang="en-US" sz="1800"/>
              <a:t>47 asynchronous, anonymous user sessions</a:t>
            </a:r>
          </a:p>
          <a:p>
            <a:pPr>
              <a:spcBef>
                <a:spcPts val="1800"/>
              </a:spcBef>
            </a:pPr>
            <a:r>
              <a:rPr lang="en-US" sz="1800"/>
              <a:t>40 cards (subdisciplines) sorted into categories (disciplines)</a:t>
            </a:r>
          </a:p>
          <a:p>
            <a:pPr lvl="1">
              <a:spcBef>
                <a:spcPts val="1800"/>
              </a:spcBef>
            </a:pPr>
            <a:r>
              <a:rPr lang="en-US" sz="1600"/>
              <a:t>Cards were randomly generated for each user from a master list of 73 subdisciplines.</a:t>
            </a:r>
          </a:p>
          <a:p>
            <a:pPr lvl="1">
              <a:spcBef>
                <a:spcPts val="1800"/>
              </a:spcBef>
            </a:pPr>
            <a:r>
              <a:rPr lang="en-US" sz="1600"/>
              <a:t>In addition to the predefined categories, users could create their own.</a:t>
            </a:r>
          </a:p>
          <a:p>
            <a:pPr>
              <a:spcBef>
                <a:spcPts val="1800"/>
              </a:spcBef>
            </a:pPr>
            <a:r>
              <a:rPr lang="en-US" sz="1800"/>
              <a:t>2 pre-study questions and 5 post-study questions</a:t>
            </a:r>
          </a:p>
          <a:p>
            <a:pPr marL="0" indent="0">
              <a:spcBef>
                <a:spcPts val="1800"/>
              </a:spcBef>
              <a:buNone/>
            </a:pPr>
            <a:endParaRPr lang="en-US" sz="2000" b="1" u="sng"/>
          </a:p>
          <a:p>
            <a:pPr marL="0" indent="0">
              <a:buNone/>
            </a:pPr>
            <a:endParaRPr lang="en-US" sz="2000" b="1" u="sng"/>
          </a:p>
          <a:p>
            <a:pPr marL="0" indent="0">
              <a:buNone/>
            </a:pPr>
            <a:endParaRPr lang="en-US" sz="1600"/>
          </a:p>
          <a:p>
            <a:pPr marL="57150" indent="0">
              <a:buNone/>
            </a:pPr>
            <a:endParaRPr lang="en-US" sz="2000" b="1" u="s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2AA5-6F59-DD4C-9821-D853041AE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476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115D-F01E-1B46-9FA4-7A6BA6FA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23962"/>
            <a:ext cx="8229600" cy="808038"/>
          </a:xfrm>
        </p:spPr>
        <p:txBody>
          <a:bodyPr lIns="91440" tIns="45720" rIns="91440" bIns="45720" anchor="t"/>
          <a:lstStyle/>
          <a:p>
            <a:pPr algn="l"/>
            <a:r>
              <a:rPr lang="en-US" sz="3100"/>
              <a:t>Card Sorting Study Overview</a:t>
            </a:r>
            <a:endParaRPr lang="en-US" sz="310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193BD-776A-E348-8748-C0258DDE6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99" y="1480716"/>
            <a:ext cx="8438071" cy="4525963"/>
          </a:xfrm>
        </p:spPr>
        <p:txBody>
          <a:bodyPr lIns="91440" tIns="45720" rIns="91440" bIns="45720" anchor="t"/>
          <a:lstStyle/>
          <a:p>
            <a:pPr marL="0" indent="0">
              <a:spcBef>
                <a:spcPts val="1080"/>
              </a:spcBef>
              <a:buNone/>
            </a:pPr>
            <a:r>
              <a:rPr lang="en-US" sz="2000" b="1"/>
              <a:t>Example Card Sort Screen</a:t>
            </a:r>
          </a:p>
          <a:p>
            <a:pPr marL="0" indent="0">
              <a:spcBef>
                <a:spcPts val="1080"/>
              </a:spcBef>
              <a:buNone/>
            </a:pPr>
            <a:r>
              <a:rPr lang="en-US" sz="1600"/>
              <a:t>Users dragged and dropped cards (subdisciplines) from the left onto categories (disciplines) on the right.</a:t>
            </a:r>
          </a:p>
          <a:p>
            <a:pPr marL="0" indent="0">
              <a:spcBef>
                <a:spcPts val="1800"/>
              </a:spcBef>
              <a:buNone/>
            </a:pPr>
            <a:endParaRPr lang="en-US" sz="2000" b="1" u="sng"/>
          </a:p>
          <a:p>
            <a:pPr marL="0" indent="0">
              <a:buNone/>
            </a:pPr>
            <a:endParaRPr lang="en-US" sz="2000" b="1" u="sng"/>
          </a:p>
          <a:p>
            <a:pPr marL="0" indent="0">
              <a:buNone/>
            </a:pPr>
            <a:endParaRPr lang="en-US" sz="1600"/>
          </a:p>
          <a:p>
            <a:pPr marL="57150" indent="0">
              <a:buNone/>
            </a:pPr>
            <a:endParaRPr lang="en-US" sz="2000" b="1" u="s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2AA5-6F59-DD4C-9821-D853041AE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E67E24-CCE1-DE80-FB4C-9F7877B77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89" y="2668041"/>
            <a:ext cx="7743421" cy="35134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5195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115D-F01E-1B46-9FA4-7A6BA6FA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Card Sorting Participants</a:t>
            </a:r>
            <a:endParaRPr lang="en-US" sz="310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2AA5-6F59-DD4C-9821-D853041AE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8C22B1-BBE5-A4A8-62A7-716230171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37" y="2054466"/>
            <a:ext cx="7462525" cy="439652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4C55187-1456-7B12-2755-FC95AF460905}"/>
              </a:ext>
            </a:extLst>
          </p:cNvPr>
          <p:cNvSpPr txBox="1">
            <a:spLocks/>
          </p:cNvSpPr>
          <p:nvPr/>
        </p:nvSpPr>
        <p:spPr>
          <a:xfrm>
            <a:off x="248958" y="1455313"/>
            <a:ext cx="8235000" cy="463641"/>
          </a:xfrm>
          <a:prstGeom prst="rect">
            <a:avLst/>
          </a:prstGeom>
        </p:spPr>
        <p:txBody>
          <a:bodyPr lIns="91440" tIns="0" rIns="91440" bIns="45720" anchor="t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sz="2100" i="0">
                <a:solidFill>
                  <a:srgbClr val="414141"/>
                </a:solidFill>
                <a:effectLst/>
                <a:latin typeface="+mn-lt"/>
              </a:rPr>
              <a:t>What types of meetings have you participated in in the past year?</a:t>
            </a:r>
            <a:endParaRPr lang="en-US" sz="2100" kern="0"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479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115D-F01E-1B46-9FA4-7A6BA6FA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Card Sorting Participants</a:t>
            </a:r>
            <a:endParaRPr lang="en-US" sz="310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2AA5-6F59-DD4C-9821-D853041AE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55187-1456-7B12-2755-FC95AF460905}"/>
              </a:ext>
            </a:extLst>
          </p:cNvPr>
          <p:cNvSpPr txBox="1">
            <a:spLocks/>
          </p:cNvSpPr>
          <p:nvPr/>
        </p:nvSpPr>
        <p:spPr>
          <a:xfrm>
            <a:off x="236079" y="1442434"/>
            <a:ext cx="8235000" cy="463641"/>
          </a:xfrm>
          <a:prstGeom prst="rect">
            <a:avLst/>
          </a:prstGeom>
        </p:spPr>
        <p:txBody>
          <a:bodyPr lIns="91440" tIns="0" rIns="91440" bIns="45720" anchor="t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sz="2100" kern="0"/>
              <a:t>How long have you been a meeting participant?</a:t>
            </a:r>
            <a:endParaRPr lang="en-US" sz="2100" kern="0"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3CEB2-E35A-925F-C8EE-74A17B9D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61" y="1972005"/>
            <a:ext cx="7472077" cy="443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2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115D-F01E-1B46-9FA4-7A6BA6FA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Card Sorting Participants</a:t>
            </a:r>
            <a:endParaRPr lang="en-US" sz="310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2AA5-6F59-DD4C-9821-D853041AE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55187-1456-7B12-2755-FC95AF460905}"/>
              </a:ext>
            </a:extLst>
          </p:cNvPr>
          <p:cNvSpPr txBox="1">
            <a:spLocks/>
          </p:cNvSpPr>
          <p:nvPr/>
        </p:nvSpPr>
        <p:spPr>
          <a:xfrm>
            <a:off x="248958" y="1455313"/>
            <a:ext cx="8235000" cy="746974"/>
          </a:xfrm>
          <a:prstGeom prst="rect">
            <a:avLst/>
          </a:prstGeom>
        </p:spPr>
        <p:txBody>
          <a:bodyPr lIns="91440" tIns="0" rIns="91440" bIns="45720" anchor="t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sz="2100" b="0" i="0">
                <a:solidFill>
                  <a:srgbClr val="414141"/>
                </a:solidFill>
                <a:effectLst/>
                <a:latin typeface="+mn-lt"/>
              </a:rPr>
              <a:t>What is your discipline/subdiscipline?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273E44-C2CD-3520-0CBF-E8904C037720}"/>
              </a:ext>
            </a:extLst>
          </p:cNvPr>
          <p:cNvSpPr/>
          <p:nvPr/>
        </p:nvSpPr>
        <p:spPr bwMode="auto">
          <a:xfrm>
            <a:off x="1184856" y="2318197"/>
            <a:ext cx="605307" cy="515155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500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6F5970-FB44-674A-C892-171EF3D234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46" r="19511"/>
          <a:stretch/>
        </p:blipFill>
        <p:spPr>
          <a:xfrm>
            <a:off x="361128" y="2086664"/>
            <a:ext cx="4210872" cy="3981480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FB4C4ED3-3C6F-0469-9F08-122EAB3E7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21014"/>
              </p:ext>
            </p:extLst>
          </p:nvPr>
        </p:nvGraphicFramePr>
        <p:xfrm>
          <a:off x="4977165" y="2086664"/>
          <a:ext cx="3779949" cy="3588099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441066">
                  <a:extLst>
                    <a:ext uri="{9D8B030D-6E8A-4147-A177-3AD203B41FA5}">
                      <a16:colId xmlns:a16="http://schemas.microsoft.com/office/drawing/2014/main" val="2302033362"/>
                    </a:ext>
                  </a:extLst>
                </a:gridCol>
                <a:gridCol w="1338883">
                  <a:extLst>
                    <a:ext uri="{9D8B030D-6E8A-4147-A177-3AD203B41FA5}">
                      <a16:colId xmlns:a16="http://schemas.microsoft.com/office/drawing/2014/main" val="1732211296"/>
                    </a:ext>
                  </a:extLst>
                </a:gridCol>
              </a:tblGrid>
              <a:tr h="31893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marL="95681" marR="95681" marT="47841" marB="478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Percentage</a:t>
                      </a:r>
                    </a:p>
                  </a:txBody>
                  <a:tcPr marL="95681" marR="95681" marT="47841" marB="47841"/>
                </a:tc>
                <a:extLst>
                  <a:ext uri="{0D108BD9-81ED-4DB2-BD59-A6C34878D82A}">
                    <a16:rowId xmlns:a16="http://schemas.microsoft.com/office/drawing/2014/main" val="2282492933"/>
                  </a:ext>
                </a:extLst>
              </a:tr>
              <a:tr h="388040">
                <a:tc>
                  <a:txBody>
                    <a:bodyPr/>
                    <a:lstStyle/>
                    <a:p>
                      <a:r>
                        <a:rPr lang="en-US" sz="1500"/>
                        <a:t>Multidisciplinary</a:t>
                      </a:r>
                    </a:p>
                  </a:txBody>
                  <a:tcPr marL="95681" marR="95681" marT="47841" marB="478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43%</a:t>
                      </a:r>
                    </a:p>
                  </a:txBody>
                  <a:tcPr marL="95681" marR="95681" marT="47841" marB="47841"/>
                </a:tc>
                <a:extLst>
                  <a:ext uri="{0D108BD9-81ED-4DB2-BD59-A6C34878D82A}">
                    <a16:rowId xmlns:a16="http://schemas.microsoft.com/office/drawing/2014/main" val="1554190650"/>
                  </a:ext>
                </a:extLst>
              </a:tr>
              <a:tr h="542193">
                <a:tc>
                  <a:txBody>
                    <a:bodyPr/>
                    <a:lstStyle/>
                    <a:p>
                      <a:r>
                        <a:rPr lang="en-US" sz="1500"/>
                        <a:t>Computer and Information Science</a:t>
                      </a:r>
                    </a:p>
                  </a:txBody>
                  <a:tcPr marL="95681" marR="95681" marT="47841" marB="478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12%</a:t>
                      </a:r>
                    </a:p>
                  </a:txBody>
                  <a:tcPr marL="95681" marR="95681" marT="47841" marB="47841"/>
                </a:tc>
                <a:extLst>
                  <a:ext uri="{0D108BD9-81ED-4DB2-BD59-A6C34878D82A}">
                    <a16:rowId xmlns:a16="http://schemas.microsoft.com/office/drawing/2014/main" val="854219400"/>
                  </a:ext>
                </a:extLst>
              </a:tr>
              <a:tr h="388040">
                <a:tc>
                  <a:txBody>
                    <a:bodyPr/>
                    <a:lstStyle/>
                    <a:p>
                      <a:r>
                        <a:rPr lang="en-US" sz="1500"/>
                        <a:t>Engineering</a:t>
                      </a:r>
                    </a:p>
                  </a:txBody>
                  <a:tcPr marL="95681" marR="95681" marT="47841" marB="478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12%</a:t>
                      </a:r>
                    </a:p>
                  </a:txBody>
                  <a:tcPr marL="95681" marR="95681" marT="47841" marB="47841"/>
                </a:tc>
                <a:extLst>
                  <a:ext uri="{0D108BD9-81ED-4DB2-BD59-A6C34878D82A}">
                    <a16:rowId xmlns:a16="http://schemas.microsoft.com/office/drawing/2014/main" val="107536001"/>
                  </a:ext>
                </a:extLst>
              </a:tr>
              <a:tr h="388040">
                <a:tc>
                  <a:txBody>
                    <a:bodyPr/>
                    <a:lstStyle/>
                    <a:p>
                      <a:r>
                        <a:rPr lang="en-US" sz="1500"/>
                        <a:t>Biological/Life Sciences</a:t>
                      </a:r>
                    </a:p>
                  </a:txBody>
                  <a:tcPr marL="95681" marR="95681" marT="47841" marB="478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8%</a:t>
                      </a:r>
                    </a:p>
                  </a:txBody>
                  <a:tcPr marL="95681" marR="95681" marT="47841" marB="47841"/>
                </a:tc>
                <a:extLst>
                  <a:ext uri="{0D108BD9-81ED-4DB2-BD59-A6C34878D82A}">
                    <a16:rowId xmlns:a16="http://schemas.microsoft.com/office/drawing/2014/main" val="645538851"/>
                  </a:ext>
                </a:extLst>
              </a:tr>
              <a:tr h="388040">
                <a:tc>
                  <a:txBody>
                    <a:bodyPr/>
                    <a:lstStyle/>
                    <a:p>
                      <a:r>
                        <a:rPr lang="en-US" sz="1500"/>
                        <a:t>Materials Research</a:t>
                      </a:r>
                    </a:p>
                  </a:txBody>
                  <a:tcPr marL="95681" marR="95681" marT="47841" marB="478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8%</a:t>
                      </a:r>
                    </a:p>
                  </a:txBody>
                  <a:tcPr marL="95681" marR="95681" marT="47841" marB="47841"/>
                </a:tc>
                <a:extLst>
                  <a:ext uri="{0D108BD9-81ED-4DB2-BD59-A6C34878D82A}">
                    <a16:rowId xmlns:a16="http://schemas.microsoft.com/office/drawing/2014/main" val="277027706"/>
                  </a:ext>
                </a:extLst>
              </a:tr>
              <a:tr h="388040">
                <a:tc>
                  <a:txBody>
                    <a:bodyPr/>
                    <a:lstStyle/>
                    <a:p>
                      <a:r>
                        <a:rPr lang="en-US" sz="1500"/>
                        <a:t>STEM Education</a:t>
                      </a:r>
                    </a:p>
                  </a:txBody>
                  <a:tcPr marL="95681" marR="95681" marT="47841" marB="478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4%</a:t>
                      </a:r>
                    </a:p>
                  </a:txBody>
                  <a:tcPr marL="95681" marR="95681" marT="47841" marB="47841"/>
                </a:tc>
                <a:extLst>
                  <a:ext uri="{0D108BD9-81ED-4DB2-BD59-A6C34878D82A}">
                    <a16:rowId xmlns:a16="http://schemas.microsoft.com/office/drawing/2014/main" val="3504468844"/>
                  </a:ext>
                </a:extLst>
              </a:tr>
              <a:tr h="388040">
                <a:tc>
                  <a:txBody>
                    <a:bodyPr/>
                    <a:lstStyle/>
                    <a:p>
                      <a:r>
                        <a:rPr lang="en-US" sz="1500"/>
                        <a:t>Geosciences</a:t>
                      </a:r>
                    </a:p>
                  </a:txBody>
                  <a:tcPr marL="95681" marR="95681" marT="47841" marB="478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4%</a:t>
                      </a:r>
                    </a:p>
                  </a:txBody>
                  <a:tcPr marL="95681" marR="95681" marT="47841" marB="47841"/>
                </a:tc>
                <a:extLst>
                  <a:ext uri="{0D108BD9-81ED-4DB2-BD59-A6C34878D82A}">
                    <a16:rowId xmlns:a16="http://schemas.microsoft.com/office/drawing/2014/main" val="3340087363"/>
                  </a:ext>
                </a:extLst>
              </a:tr>
              <a:tr h="388040">
                <a:tc>
                  <a:txBody>
                    <a:bodyPr/>
                    <a:lstStyle/>
                    <a:p>
                      <a:r>
                        <a:rPr lang="en-US" sz="1500"/>
                        <a:t>Other</a:t>
                      </a:r>
                    </a:p>
                  </a:txBody>
                  <a:tcPr marL="95681" marR="95681" marT="47841" marB="478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8%</a:t>
                      </a:r>
                    </a:p>
                  </a:txBody>
                  <a:tcPr marL="95681" marR="95681" marT="47841" marB="47841"/>
                </a:tc>
                <a:extLst>
                  <a:ext uri="{0D108BD9-81ED-4DB2-BD59-A6C34878D82A}">
                    <a16:rowId xmlns:a16="http://schemas.microsoft.com/office/drawing/2014/main" val="1377494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176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115D-F01E-1B46-9FA4-7A6BA6FA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Participant Feedback</a:t>
            </a:r>
            <a:endParaRPr lang="en-US" sz="310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2AA5-6F59-DD4C-9821-D853041AE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55187-1456-7B12-2755-FC95AF460905}"/>
              </a:ext>
            </a:extLst>
          </p:cNvPr>
          <p:cNvSpPr txBox="1">
            <a:spLocks/>
          </p:cNvSpPr>
          <p:nvPr/>
        </p:nvSpPr>
        <p:spPr>
          <a:xfrm>
            <a:off x="248958" y="1455313"/>
            <a:ext cx="8235000" cy="746974"/>
          </a:xfrm>
          <a:prstGeom prst="rect">
            <a:avLst/>
          </a:prstGeom>
        </p:spPr>
        <p:txBody>
          <a:bodyPr lIns="91440" tIns="0" rIns="91440" bIns="45720" anchor="t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sz="2000" b="0" i="0">
                <a:solidFill>
                  <a:srgbClr val="414141"/>
                </a:solidFill>
                <a:effectLst/>
                <a:latin typeface="+mn-lt"/>
              </a:rPr>
              <a:t>When being selected as a good fit for a review panel or other meeting type, which terminology makes more sense to you?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2B2D0B2-47E9-AC8C-31A2-9B3DD5264F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425552"/>
              </p:ext>
            </p:extLst>
          </p:nvPr>
        </p:nvGraphicFramePr>
        <p:xfrm>
          <a:off x="1344289" y="2304021"/>
          <a:ext cx="6455421" cy="4250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08182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115D-F01E-1B46-9FA4-7A6BA6FA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Participant Feedback</a:t>
            </a:r>
            <a:endParaRPr lang="en-US" sz="310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2AA5-6F59-DD4C-9821-D853041AE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55187-1456-7B12-2755-FC95AF460905}"/>
              </a:ext>
            </a:extLst>
          </p:cNvPr>
          <p:cNvSpPr txBox="1">
            <a:spLocks/>
          </p:cNvSpPr>
          <p:nvPr/>
        </p:nvSpPr>
        <p:spPr>
          <a:xfrm>
            <a:off x="248958" y="1455313"/>
            <a:ext cx="8235000" cy="746974"/>
          </a:xfrm>
          <a:prstGeom prst="rect">
            <a:avLst/>
          </a:prstGeom>
        </p:spPr>
        <p:txBody>
          <a:bodyPr lIns="91440" tIns="0" rIns="91440" bIns="45720" anchor="t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sz="2100" b="0" i="0">
                <a:solidFill>
                  <a:srgbClr val="414141"/>
                </a:solidFill>
                <a:effectLst/>
                <a:latin typeface="+mn-lt"/>
              </a:rPr>
              <a:t>Was your discipline included in </a:t>
            </a:r>
            <a:r>
              <a:rPr lang="en-US" sz="2100">
                <a:solidFill>
                  <a:srgbClr val="414141"/>
                </a:solidFill>
                <a:latin typeface="+mn-lt"/>
              </a:rPr>
              <a:t>the list of cards you sorted</a:t>
            </a:r>
            <a:r>
              <a:rPr lang="en-US" sz="2100" b="0" i="0">
                <a:solidFill>
                  <a:srgbClr val="414141"/>
                </a:solidFill>
                <a:effectLst/>
                <a:latin typeface="+mn-lt"/>
              </a:rPr>
              <a:t>?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6934AA91-E17B-BB0D-954B-C1CAF4814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129" y="1899885"/>
            <a:ext cx="6244155" cy="436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736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115D-F01E-1B46-9FA4-7A6BA6FA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Participant Feedback</a:t>
            </a:r>
            <a:endParaRPr lang="en-US" sz="310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42AA5-6F59-DD4C-9821-D853041AE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55187-1456-7B12-2755-FC95AF460905}"/>
              </a:ext>
            </a:extLst>
          </p:cNvPr>
          <p:cNvSpPr txBox="1">
            <a:spLocks/>
          </p:cNvSpPr>
          <p:nvPr/>
        </p:nvSpPr>
        <p:spPr>
          <a:xfrm>
            <a:off x="248958" y="1455313"/>
            <a:ext cx="8235000" cy="746974"/>
          </a:xfrm>
          <a:prstGeom prst="rect">
            <a:avLst/>
          </a:prstGeom>
        </p:spPr>
        <p:txBody>
          <a:bodyPr lIns="91440" tIns="0" rIns="91440" bIns="45720" anchor="t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sz="2100" b="0" i="0">
                <a:solidFill>
                  <a:srgbClr val="414141"/>
                </a:solidFill>
                <a:effectLst/>
                <a:latin typeface="+mn-lt"/>
              </a:rPr>
              <a:t>Were any of the items difficult to categorize? Please explain.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3A6EE15-DC16-5EF1-19FE-DF354BD07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1541707"/>
              </p:ext>
            </p:extLst>
          </p:nvPr>
        </p:nvGraphicFramePr>
        <p:xfrm>
          <a:off x="249016" y="2698269"/>
          <a:ext cx="2753413" cy="2730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Picture 11">
            <a:extLst>
              <a:ext uri="{FF2B5EF4-FFF2-40B4-BE49-F238E27FC236}">
                <a16:creationId xmlns:a16="http://schemas.microsoft.com/office/drawing/2014/main" id="{D2D48C6D-6EEA-7301-1B25-CF4F0E9BD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102" y="2199552"/>
            <a:ext cx="5586760" cy="391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42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85FBD-52DD-2542-A8E3-10D1ECADB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D5029-1ACA-01D1-1852-72B7F05EF55E}"/>
              </a:ext>
            </a:extLst>
          </p:cNvPr>
          <p:cNvSpPr txBox="1"/>
          <p:nvPr/>
        </p:nvSpPr>
        <p:spPr>
          <a:xfrm>
            <a:off x="223200" y="1432603"/>
            <a:ext cx="8859289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Users categorized subdisciplines the same way as NSF about half the time, based on the most recent list of disciplines: </a:t>
            </a:r>
            <a:r>
              <a:rPr lang="en-US">
                <a:latin typeface="Arial"/>
                <a:cs typeface="Arial"/>
                <a:hlinkClick r:id="rId3"/>
              </a:rPr>
              <a:t>AcctMgmt_AreasOfExpertise_2022-07-26v2.xlsx (nsf.gov)</a:t>
            </a:r>
            <a:endParaRPr lang="en-US">
              <a:solidFill>
                <a:schemeClr val="tx1"/>
              </a:solidFill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775F7C-79BF-9BA9-2725-229997BD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Key Findings: Users vs. NSF</a:t>
            </a:r>
            <a:endParaRPr lang="en-US" sz="3100">
              <a:cs typeface="Arial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25EA8A7-92C3-0472-FB87-2CC22765A7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7469685"/>
              </p:ext>
            </p:extLst>
          </p:nvPr>
        </p:nvGraphicFramePr>
        <p:xfrm>
          <a:off x="1703768" y="2212828"/>
          <a:ext cx="5736464" cy="4009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5717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85FBD-52DD-2542-A8E3-10D1ECADB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B8FAF3A2-419C-58C8-AEDA-2402D8A0A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533117"/>
              </p:ext>
            </p:extLst>
          </p:nvPr>
        </p:nvGraphicFramePr>
        <p:xfrm>
          <a:off x="3606086" y="1028700"/>
          <a:ext cx="5170868" cy="5212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4222">
                  <a:extLst>
                    <a:ext uri="{9D8B030D-6E8A-4147-A177-3AD203B41FA5}">
                      <a16:colId xmlns:a16="http://schemas.microsoft.com/office/drawing/2014/main" val="1513021120"/>
                    </a:ext>
                  </a:extLst>
                </a:gridCol>
                <a:gridCol w="826646">
                  <a:extLst>
                    <a:ext uri="{9D8B030D-6E8A-4147-A177-3AD203B41FA5}">
                      <a16:colId xmlns:a16="http://schemas.microsoft.com/office/drawing/2014/main" val="2835846219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Category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Agreed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7825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Biological/Life Sciences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E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8356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Chemistry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4914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Computer and Information Science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89%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6032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Engineering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80%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A8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26211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Entrepreneurship, Innovation, and Commercialization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28066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Geosciences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F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7135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Health and Allied Sciences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67%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10503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Materials Research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97426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Mathematical Sciences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81936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Organism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95867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95305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Psychology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79146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Social Sciences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90366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STEM Education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40%</a:t>
                      </a:r>
                    </a:p>
                  </a:txBody>
                  <a:tcPr marT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E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55279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38D5029-1ACA-01D1-1852-72B7F05EF55E}"/>
              </a:ext>
            </a:extLst>
          </p:cNvPr>
          <p:cNvSpPr txBox="1"/>
          <p:nvPr/>
        </p:nvSpPr>
        <p:spPr>
          <a:xfrm>
            <a:off x="248957" y="2055969"/>
            <a:ext cx="3241217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For half the categories, users agreed with each other  </a:t>
            </a:r>
            <a:endParaRPr lang="en-US" sz="1600">
              <a:solidFill>
                <a:schemeClr val="tx1"/>
              </a:solidFill>
            </a:endParaRPr>
          </a:p>
          <a:p>
            <a:r>
              <a:rPr lang="en-US" sz="1600" b="1">
                <a:solidFill>
                  <a:schemeClr val="tx1"/>
                </a:solidFill>
                <a:latin typeface="Arial"/>
                <a:cs typeface="Arial"/>
              </a:rPr>
              <a:t>50% of the time or less.</a:t>
            </a:r>
          </a:p>
          <a:p>
            <a:endParaRPr lang="en-US" sz="1600" b="1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This heatmap shows the percentage of card sort participants who agreed on the cards in each category. </a:t>
            </a:r>
            <a:endParaRPr lang="en-US" sz="1600">
              <a:solidFill>
                <a:schemeClr val="tx1"/>
              </a:solidFill>
              <a:cs typeface="Arial"/>
            </a:endParaRPr>
          </a:p>
          <a:p>
            <a:endParaRPr lang="en-US" sz="1600" b="1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4A0F238-1A14-636B-0231-C95F47FC65AF}"/>
              </a:ext>
            </a:extLst>
          </p:cNvPr>
          <p:cNvSpPr txBox="1">
            <a:spLocks/>
          </p:cNvSpPr>
          <p:nvPr/>
        </p:nvSpPr>
        <p:spPr>
          <a:xfrm>
            <a:off x="248957" y="1594371"/>
            <a:ext cx="8235000" cy="746974"/>
          </a:xfrm>
          <a:prstGeom prst="rect">
            <a:avLst/>
          </a:prstGeom>
        </p:spPr>
        <p:txBody>
          <a:bodyPr lIns="91440" tIns="0" rIns="91440" bIns="45720" anchor="t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sz="2100" b="0" i="0">
                <a:solidFill>
                  <a:srgbClr val="414141"/>
                </a:solidFill>
                <a:effectLst/>
                <a:latin typeface="+mn-lt"/>
              </a:rPr>
              <a:t>User Concurrence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2FF6E09-21FD-9884-1E51-BCB6AE096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1" y="858082"/>
            <a:ext cx="7772400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84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85FBD-52DD-2542-A8E3-10D1ECADB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D5029-1ACA-01D1-1852-72B7F05EF55E}"/>
              </a:ext>
            </a:extLst>
          </p:cNvPr>
          <p:cNvSpPr txBox="1"/>
          <p:nvPr/>
        </p:nvSpPr>
        <p:spPr>
          <a:xfrm>
            <a:off x="223199" y="1432603"/>
            <a:ext cx="808367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Categorical Agreement (most to least agreement between users)</a:t>
            </a:r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ED3945D-D459-52A5-301A-E0D4F001D4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0213596"/>
              </p:ext>
            </p:extLst>
          </p:nvPr>
        </p:nvGraphicFramePr>
        <p:xfrm>
          <a:off x="1339404" y="2129554"/>
          <a:ext cx="643514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0775F7C-79BF-9BA9-2725-229997BD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Key Findings</a:t>
            </a:r>
            <a:endParaRPr lang="en-US" sz="31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6229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85FBD-52DD-2542-A8E3-10D1ECADB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D5029-1ACA-01D1-1852-72B7F05EF55E}"/>
              </a:ext>
            </a:extLst>
          </p:cNvPr>
          <p:cNvSpPr txBox="1"/>
          <p:nvPr/>
        </p:nvSpPr>
        <p:spPr>
          <a:xfrm>
            <a:off x="223199" y="1432603"/>
            <a:ext cx="8234999" cy="24314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Least to Most Popular Categories</a:t>
            </a:r>
          </a:p>
          <a:p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(number of cards in each category, based on highest percentage of votes per card)</a:t>
            </a:r>
            <a:endParaRPr lang="en-US" sz="1600" dirty="0">
              <a:solidFill>
                <a:schemeClr val="tx1"/>
              </a:solidFill>
              <a:cs typeface="Arial"/>
            </a:endParaRPr>
          </a:p>
          <a:p>
            <a:endParaRPr lang="en-US" sz="2000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  <a:cs typeface="Arial" charset="0"/>
            </a:endParaRPr>
          </a:p>
          <a:p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775F7C-79BF-9BA9-2725-229997BD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Key Findings</a:t>
            </a:r>
            <a:endParaRPr lang="en-US" sz="3100">
              <a:cs typeface="Arial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FE44ED0-D392-D66D-0344-5B1CE0FBF3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4771398"/>
              </p:ext>
            </p:extLst>
          </p:nvPr>
        </p:nvGraphicFramePr>
        <p:xfrm>
          <a:off x="1339404" y="2241750"/>
          <a:ext cx="643514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622637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85FBD-52DD-2542-A8E3-10D1ECADB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775F7C-79BF-9BA9-2725-229997BD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Key Findings</a:t>
            </a:r>
            <a:endParaRPr lang="en-US" sz="3100"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D5029-1ACA-01D1-1852-72B7F05EF55E}"/>
              </a:ext>
            </a:extLst>
          </p:cNvPr>
          <p:cNvSpPr txBox="1"/>
          <p:nvPr/>
        </p:nvSpPr>
        <p:spPr>
          <a:xfrm>
            <a:off x="223200" y="1390529"/>
            <a:ext cx="869760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Users most frequently disagreed about how to categorize cards where the categories overlap.</a:t>
            </a: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F454D0-0468-60B2-CDB0-2C44F58BA083}"/>
              </a:ext>
            </a:extLst>
          </p:cNvPr>
          <p:cNvGrpSpPr/>
          <p:nvPr/>
        </p:nvGrpSpPr>
        <p:grpSpPr>
          <a:xfrm>
            <a:off x="688729" y="1817598"/>
            <a:ext cx="7643352" cy="4874839"/>
            <a:chOff x="1398448" y="1707398"/>
            <a:chExt cx="6767454" cy="430070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1DC3353-1043-FD9E-0D3C-960BC4923748}"/>
                </a:ext>
              </a:extLst>
            </p:cNvPr>
            <p:cNvSpPr/>
            <p:nvPr/>
          </p:nvSpPr>
          <p:spPr bwMode="auto">
            <a:xfrm>
              <a:off x="1398448" y="3084175"/>
              <a:ext cx="1177327" cy="1127744"/>
            </a:xfrm>
            <a:prstGeom prst="ellipse">
              <a:avLst/>
            </a:prstGeom>
            <a:solidFill>
              <a:srgbClr val="FF9300">
                <a:alpha val="50196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/>
                  <a:cs typeface="Calibri"/>
                </a:rPr>
                <a:t>Psychology</a:t>
              </a:r>
              <a:endParaRPr lang="en-US" sz="10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FB2A11C-4ACF-43D7-8EC1-169F91A2C535}"/>
                </a:ext>
              </a:extLst>
            </p:cNvPr>
            <p:cNvSpPr/>
            <p:nvPr/>
          </p:nvSpPr>
          <p:spPr bwMode="auto">
            <a:xfrm>
              <a:off x="2272065" y="2920872"/>
              <a:ext cx="1177327" cy="1127744"/>
            </a:xfrm>
            <a:prstGeom prst="ellipse">
              <a:avLst/>
            </a:prstGeom>
            <a:solidFill>
              <a:srgbClr val="0432FF">
                <a:alpha val="2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Health and Allied Sciences</a:t>
              </a:r>
              <a:endParaRPr kumimoji="0" lang="en-US" sz="1000" b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8203F7A-9633-6E66-A265-F592ED6368AD}"/>
                </a:ext>
              </a:extLst>
            </p:cNvPr>
            <p:cNvSpPr/>
            <p:nvPr/>
          </p:nvSpPr>
          <p:spPr bwMode="auto">
            <a:xfrm>
              <a:off x="3083165" y="2324678"/>
              <a:ext cx="2142724" cy="2052483"/>
            </a:xfrm>
            <a:prstGeom prst="ellipse">
              <a:avLst/>
            </a:prstGeom>
            <a:solidFill>
              <a:srgbClr val="009051">
                <a:alpha val="2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</a:pPr>
              <a:r>
                <a:rPr kumimoji="0" lang="en-US" sz="105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/>
                  <a:cs typeface="Calibri"/>
                </a:rPr>
                <a:t>Biological/Life Sciences</a:t>
              </a:r>
              <a:endParaRPr lang="en-US" sz="105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B458982-7173-B9D6-D918-753177632299}"/>
                </a:ext>
              </a:extLst>
            </p:cNvPr>
            <p:cNvSpPr/>
            <p:nvPr/>
          </p:nvSpPr>
          <p:spPr bwMode="auto">
            <a:xfrm>
              <a:off x="3766479" y="4022859"/>
              <a:ext cx="1177327" cy="1127744"/>
            </a:xfrm>
            <a:prstGeom prst="ellipse">
              <a:avLst/>
            </a:prstGeom>
            <a:solidFill>
              <a:srgbClr val="FF8AD8">
                <a:alpha val="2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</a:pPr>
              <a:r>
                <a:rPr kumimoji="0" lang="en-US" sz="10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/>
                  <a:cs typeface="Calibri"/>
                </a:rPr>
                <a:t>Social Sciences</a:t>
              </a:r>
              <a:endParaRPr lang="en-US" sz="10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93E1D21-0127-028A-C10E-E4BBCF3DF037}"/>
                </a:ext>
              </a:extLst>
            </p:cNvPr>
            <p:cNvSpPr/>
            <p:nvPr/>
          </p:nvSpPr>
          <p:spPr bwMode="auto">
            <a:xfrm>
              <a:off x="3932920" y="4880357"/>
              <a:ext cx="1177327" cy="1127744"/>
            </a:xfrm>
            <a:prstGeom prst="ellipse">
              <a:avLst/>
            </a:prstGeom>
            <a:solidFill>
              <a:srgbClr val="FFFC00">
                <a:alpha val="2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/>
                  <a:cs typeface="Calibri"/>
                </a:rPr>
                <a:t>STEM Education</a:t>
              </a:r>
              <a:endParaRPr lang="en-US" sz="10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3A2C673-B6EC-1DE4-84E2-D4DA97C63C68}"/>
                </a:ext>
              </a:extLst>
            </p:cNvPr>
            <p:cNvSpPr/>
            <p:nvPr/>
          </p:nvSpPr>
          <p:spPr bwMode="auto">
            <a:xfrm>
              <a:off x="4276303" y="1707398"/>
              <a:ext cx="1177327" cy="1127744"/>
            </a:xfrm>
            <a:prstGeom prst="ellipse">
              <a:avLst/>
            </a:prstGeom>
            <a:solidFill>
              <a:srgbClr val="FF2600">
                <a:alpha val="2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Organism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F76BF12-7040-60F3-3DBA-2B6B2CA67E95}"/>
                </a:ext>
              </a:extLst>
            </p:cNvPr>
            <p:cNvSpPr/>
            <p:nvPr/>
          </p:nvSpPr>
          <p:spPr bwMode="auto">
            <a:xfrm>
              <a:off x="4818280" y="2241867"/>
              <a:ext cx="1649596" cy="1580123"/>
            </a:xfrm>
            <a:prstGeom prst="ellipse">
              <a:avLst/>
            </a:prstGeom>
            <a:solidFill>
              <a:srgbClr val="9437FF">
                <a:alpha val="2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/>
                  <a:cs typeface="Calibri"/>
                </a:rPr>
                <a:t>Geosciences</a:t>
              </a:r>
              <a:endParaRPr lang="en-US" sz="105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635885C-2618-2D20-B790-3FF17846A373}"/>
                </a:ext>
              </a:extLst>
            </p:cNvPr>
            <p:cNvSpPr/>
            <p:nvPr/>
          </p:nvSpPr>
          <p:spPr bwMode="auto">
            <a:xfrm>
              <a:off x="6129148" y="2104542"/>
              <a:ext cx="1177325" cy="1127742"/>
            </a:xfrm>
            <a:prstGeom prst="ellipse">
              <a:avLst/>
            </a:prstGeom>
            <a:solidFill>
              <a:srgbClr val="00FDFF">
                <a:alpha val="2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Chemistry</a:t>
              </a:r>
              <a:endParaRPr kumimoji="0" lang="en-US" sz="9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892A9A3-3D10-9843-A94C-3732AC8CA11A}"/>
                </a:ext>
              </a:extLst>
            </p:cNvPr>
            <p:cNvSpPr/>
            <p:nvPr/>
          </p:nvSpPr>
          <p:spPr bwMode="auto">
            <a:xfrm>
              <a:off x="6129148" y="4423622"/>
              <a:ext cx="1177326" cy="1127742"/>
            </a:xfrm>
            <a:prstGeom prst="ellipse">
              <a:avLst/>
            </a:prstGeom>
            <a:solidFill>
              <a:srgbClr val="929292">
                <a:alpha val="2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/>
                  <a:cs typeface="Calibri"/>
                </a:rPr>
                <a:t>Computer and Information Science</a:t>
              </a:r>
              <a:endParaRPr lang="en-US" sz="10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52A4F31-3AA4-3E93-E74D-CBC5A3A85866}"/>
                </a:ext>
              </a:extLst>
            </p:cNvPr>
            <p:cNvSpPr/>
            <p:nvPr/>
          </p:nvSpPr>
          <p:spPr bwMode="auto">
            <a:xfrm>
              <a:off x="6988576" y="4430833"/>
              <a:ext cx="1177326" cy="1127742"/>
            </a:xfrm>
            <a:prstGeom prst="ellipse">
              <a:avLst/>
            </a:prstGeom>
            <a:solidFill>
              <a:srgbClr val="941651">
                <a:alpha val="14902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/>
                  <a:cs typeface="Calibri"/>
                </a:rPr>
                <a:t>Engineering</a:t>
              </a:r>
              <a:endParaRPr lang="en-US" sz="10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24716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85FBD-52DD-2542-A8E3-10D1ECADB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13FE555A-FDAA-D044-8604-8BA537B0492B}"/>
              </a:ext>
            </a:extLst>
          </p:cNvPr>
          <p:cNvSpPr/>
          <p:nvPr/>
        </p:nvSpPr>
        <p:spPr>
          <a:xfrm>
            <a:off x="583383" y="5136614"/>
            <a:ext cx="1558765" cy="808038"/>
          </a:xfrm>
          <a:prstGeom prst="wedgeRoundRectCallout">
            <a:avLst>
              <a:gd name="adj1" fmla="val 123653"/>
              <a:gd name="adj2" fmla="val 40122"/>
              <a:gd name="adj3" fmla="val 16667"/>
            </a:avLst>
          </a:prstGeom>
          <a:solidFill>
            <a:srgbClr val="41EE6A">
              <a:alpha val="25098"/>
            </a:srgb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“</a:t>
            </a:r>
            <a:r>
              <a:rPr lang="en-US" sz="1400" b="0" i="0">
                <a:solidFill>
                  <a:srgbClr val="414141"/>
                </a:solidFill>
                <a:effectLst/>
                <a:latin typeface="Calibri" panose="020F0502020204030204" pitchFamily="34" charset="0"/>
              </a:rPr>
              <a:t>Interesting activity!”</a:t>
            </a:r>
            <a:endParaRPr lang="en-US" sz="1400"/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980680C7-A2CD-8D4F-A503-77FC5A56D40B}"/>
              </a:ext>
            </a:extLst>
          </p:cNvPr>
          <p:cNvSpPr/>
          <p:nvPr/>
        </p:nvSpPr>
        <p:spPr>
          <a:xfrm>
            <a:off x="6974395" y="3429586"/>
            <a:ext cx="2029439" cy="1227250"/>
          </a:xfrm>
          <a:prstGeom prst="wedgeRoundRectCallout">
            <a:avLst>
              <a:gd name="adj1" fmla="val 12060"/>
              <a:gd name="adj2" fmla="val 104517"/>
              <a:gd name="adj3" fmla="val 16667"/>
            </a:avLst>
          </a:prstGeom>
          <a:solidFill>
            <a:srgbClr val="FFD7CF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/>
              <a:t>“</a:t>
            </a:r>
            <a:r>
              <a:rPr lang="en-US" sz="1400" b="0" i="0">
                <a:solidFill>
                  <a:srgbClr val="414141"/>
                </a:solidFill>
                <a:effectLst/>
                <a:latin typeface="Calibri" panose="020F0502020204030204" pitchFamily="34" charset="0"/>
              </a:rPr>
              <a:t>It was so difficult I see very little use coming from these categories and subcategories.”</a:t>
            </a:r>
            <a:endParaRPr lang="en-US" sz="14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BE5385F-73D1-49E4-2208-4912C0C7A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00" y="862599"/>
            <a:ext cx="8235000" cy="631351"/>
          </a:xfrm>
        </p:spPr>
        <p:txBody>
          <a:bodyPr lIns="91440" tIns="0" rIns="91440" bIns="45720" anchor="t"/>
          <a:lstStyle/>
          <a:p>
            <a:pPr algn="l"/>
            <a:r>
              <a:rPr lang="en-US" sz="3100"/>
              <a:t>Participant Comments</a:t>
            </a:r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CCB3094-08EA-4F53-F266-0D894EB336B9}"/>
              </a:ext>
            </a:extLst>
          </p:cNvPr>
          <p:cNvSpPr txBox="1">
            <a:spLocks/>
          </p:cNvSpPr>
          <p:nvPr/>
        </p:nvSpPr>
        <p:spPr>
          <a:xfrm>
            <a:off x="252234" y="1576202"/>
            <a:ext cx="8235000" cy="631351"/>
          </a:xfrm>
          <a:prstGeom prst="rect">
            <a:avLst/>
          </a:prstGeom>
        </p:spPr>
        <p:txBody>
          <a:bodyPr lIns="91440" tIns="0" rIns="91440" bIns="45720" anchor="t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>
              <a:spcBef>
                <a:spcPts val="1200"/>
              </a:spcBef>
            </a:pPr>
            <a:r>
              <a:rPr lang="en-US" sz="2400" b="1" kern="0"/>
              <a:t>Themes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kern="0">
                <a:cs typeface="Arial"/>
              </a:rPr>
              <a:t>Cross-discipline areas of expertise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kern="0">
                <a:cs typeface="Arial"/>
              </a:rPr>
              <a:t>Areas of expertise that are not category-specific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44ABA5C-819E-98A7-E5D5-9AFE4879F05A}"/>
              </a:ext>
            </a:extLst>
          </p:cNvPr>
          <p:cNvSpPr txBox="1">
            <a:spLocks/>
          </p:cNvSpPr>
          <p:nvPr/>
        </p:nvSpPr>
        <p:spPr>
          <a:xfrm>
            <a:off x="252234" y="3215598"/>
            <a:ext cx="8235000" cy="631351"/>
          </a:xfrm>
          <a:prstGeom prst="rect">
            <a:avLst/>
          </a:prstGeom>
        </p:spPr>
        <p:txBody>
          <a:bodyPr lIns="91440" tIns="0" rIns="91440" bIns="45720" anchor="t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sz="2400" b="1" kern="0"/>
              <a:t>Sentiments</a:t>
            </a:r>
            <a:endParaRPr lang="en-US" sz="2400" b="1" kern="0">
              <a:cs typeface="Arial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A25F6D-1134-B12B-0B22-1A494FF1FBE2}"/>
              </a:ext>
            </a:extLst>
          </p:cNvPr>
          <p:cNvGrpSpPr/>
          <p:nvPr/>
        </p:nvGrpSpPr>
        <p:grpSpPr>
          <a:xfrm>
            <a:off x="7942027" y="5340323"/>
            <a:ext cx="935865" cy="935865"/>
            <a:chOff x="2882900" y="1333500"/>
            <a:chExt cx="2019300" cy="20193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0331BC3-B14E-3648-DACB-73CB4E4CE1EF}"/>
                </a:ext>
              </a:extLst>
            </p:cNvPr>
            <p:cNvSpPr/>
            <p:nvPr/>
          </p:nvSpPr>
          <p:spPr bwMode="auto">
            <a:xfrm>
              <a:off x="2882900" y="1333500"/>
              <a:ext cx="2019300" cy="2019300"/>
            </a:xfrm>
            <a:prstGeom prst="ellipse">
              <a:avLst/>
            </a:prstGeom>
            <a:solidFill>
              <a:srgbClr val="FF0000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DB78527-1825-1CB6-09B5-1E4B7A0B10D3}"/>
                </a:ext>
              </a:extLst>
            </p:cNvPr>
            <p:cNvSpPr/>
            <p:nvPr/>
          </p:nvSpPr>
          <p:spPr bwMode="auto">
            <a:xfrm>
              <a:off x="2984500" y="1435100"/>
              <a:ext cx="1828800" cy="18288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8170682-25AF-B6E0-4DB9-A9A478183C6B}"/>
                </a:ext>
              </a:extLst>
            </p:cNvPr>
            <p:cNvSpPr/>
            <p:nvPr/>
          </p:nvSpPr>
          <p:spPr bwMode="auto">
            <a:xfrm>
              <a:off x="3441700" y="1968500"/>
              <a:ext cx="203200" cy="203200"/>
            </a:xfrm>
            <a:prstGeom prst="ellipse">
              <a:avLst/>
            </a:prstGeom>
            <a:solidFill>
              <a:srgbClr val="FF0000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DD70437-FA0E-FDFF-3833-384A4595AB33}"/>
                </a:ext>
              </a:extLst>
            </p:cNvPr>
            <p:cNvSpPr/>
            <p:nvPr/>
          </p:nvSpPr>
          <p:spPr bwMode="auto">
            <a:xfrm>
              <a:off x="4102100" y="1968500"/>
              <a:ext cx="203200" cy="203200"/>
            </a:xfrm>
            <a:prstGeom prst="ellipse">
              <a:avLst/>
            </a:prstGeom>
            <a:solidFill>
              <a:srgbClr val="FF0000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Block Arc 26">
              <a:extLst>
                <a:ext uri="{FF2B5EF4-FFF2-40B4-BE49-F238E27FC236}">
                  <a16:creationId xmlns:a16="http://schemas.microsoft.com/office/drawing/2014/main" id="{616A9804-B852-F1F0-8A31-11B60D2231FE}"/>
                </a:ext>
              </a:extLst>
            </p:cNvPr>
            <p:cNvSpPr/>
            <p:nvPr/>
          </p:nvSpPr>
          <p:spPr bwMode="auto">
            <a:xfrm>
              <a:off x="3536950" y="2473181"/>
              <a:ext cx="717550" cy="511319"/>
            </a:xfrm>
            <a:prstGeom prst="blockArc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D397BE-D732-296B-EB7B-844FF5F2A314}"/>
              </a:ext>
            </a:extLst>
          </p:cNvPr>
          <p:cNvGrpSpPr/>
          <p:nvPr/>
        </p:nvGrpSpPr>
        <p:grpSpPr>
          <a:xfrm>
            <a:off x="5703675" y="5372086"/>
            <a:ext cx="935865" cy="935865"/>
            <a:chOff x="5080000" y="4343400"/>
            <a:chExt cx="2019300" cy="20193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7EB3A6A-ED0E-47EB-4563-3685A962DF85}"/>
                </a:ext>
              </a:extLst>
            </p:cNvPr>
            <p:cNvSpPr/>
            <p:nvPr/>
          </p:nvSpPr>
          <p:spPr bwMode="auto">
            <a:xfrm>
              <a:off x="5080000" y="4343400"/>
              <a:ext cx="2019300" cy="2019300"/>
            </a:xfrm>
            <a:prstGeom prst="ellipse">
              <a:avLst/>
            </a:prstGeom>
            <a:solidFill>
              <a:srgbClr val="FFE851"/>
            </a:solidFill>
            <a:ln w="76200" cap="flat" cmpd="sng" algn="ctr">
              <a:solidFill>
                <a:srgbClr val="FFE85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C820548-4338-BC94-5563-34EB2E3B9B15}"/>
                </a:ext>
              </a:extLst>
            </p:cNvPr>
            <p:cNvSpPr/>
            <p:nvPr/>
          </p:nvSpPr>
          <p:spPr bwMode="auto">
            <a:xfrm>
              <a:off x="5181600" y="4445000"/>
              <a:ext cx="1828800" cy="18288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FFE85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E91CBA4-4FC5-FB34-C69A-4D20D4C88D70}"/>
                </a:ext>
              </a:extLst>
            </p:cNvPr>
            <p:cNvSpPr/>
            <p:nvPr/>
          </p:nvSpPr>
          <p:spPr bwMode="auto">
            <a:xfrm>
              <a:off x="5638800" y="4978400"/>
              <a:ext cx="203200" cy="203200"/>
            </a:xfrm>
            <a:prstGeom prst="ellipse">
              <a:avLst/>
            </a:prstGeom>
            <a:solidFill>
              <a:srgbClr val="FFE851"/>
            </a:solidFill>
            <a:ln w="76200" cap="flat" cmpd="sng" algn="ctr">
              <a:solidFill>
                <a:srgbClr val="FFE85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6A7AE42-43DB-C6B2-7624-537265569C15}"/>
                </a:ext>
              </a:extLst>
            </p:cNvPr>
            <p:cNvSpPr/>
            <p:nvPr/>
          </p:nvSpPr>
          <p:spPr bwMode="auto">
            <a:xfrm>
              <a:off x="6299200" y="4978400"/>
              <a:ext cx="203200" cy="203200"/>
            </a:xfrm>
            <a:prstGeom prst="ellipse">
              <a:avLst/>
            </a:prstGeom>
            <a:solidFill>
              <a:srgbClr val="FFE851"/>
            </a:solidFill>
            <a:ln w="76200" cap="flat" cmpd="sng" algn="ctr">
              <a:solidFill>
                <a:srgbClr val="FFE85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DAE44EA6-A7E1-E125-72FC-A92752C1BAAC}"/>
                </a:ext>
              </a:extLst>
            </p:cNvPr>
            <p:cNvSpPr/>
            <p:nvPr/>
          </p:nvSpPr>
          <p:spPr bwMode="auto">
            <a:xfrm>
              <a:off x="5829300" y="5562600"/>
              <a:ext cx="495300" cy="109610"/>
            </a:xfrm>
            <a:prstGeom prst="roundRect">
              <a:avLst/>
            </a:prstGeom>
            <a:solidFill>
              <a:srgbClr val="FFE851"/>
            </a:solidFill>
            <a:ln w="12700" cap="flat" cmpd="sng" algn="ctr">
              <a:solidFill>
                <a:srgbClr val="FFE85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95A335E-9064-A5F1-BE42-51CD7DAF0685}"/>
              </a:ext>
            </a:extLst>
          </p:cNvPr>
          <p:cNvGrpSpPr/>
          <p:nvPr/>
        </p:nvGrpSpPr>
        <p:grpSpPr>
          <a:xfrm>
            <a:off x="3354035" y="5375187"/>
            <a:ext cx="935865" cy="935865"/>
            <a:chOff x="6197600" y="1225550"/>
            <a:chExt cx="2019300" cy="20193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5F7ABC2-B57D-EFB3-6FF4-6B2FC6710C8E}"/>
                </a:ext>
              </a:extLst>
            </p:cNvPr>
            <p:cNvSpPr/>
            <p:nvPr/>
          </p:nvSpPr>
          <p:spPr bwMode="auto">
            <a:xfrm>
              <a:off x="6197600" y="1225550"/>
              <a:ext cx="2019300" cy="2019300"/>
            </a:xfrm>
            <a:prstGeom prst="ellipse">
              <a:avLst/>
            </a:prstGeom>
            <a:solidFill>
              <a:srgbClr val="41EE6A"/>
            </a:solidFill>
            <a:ln w="76200" cap="flat" cmpd="sng" algn="ctr">
              <a:solidFill>
                <a:srgbClr val="41EE6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A5020C8-A942-A210-6B0A-D57BDAFC0089}"/>
                </a:ext>
              </a:extLst>
            </p:cNvPr>
            <p:cNvSpPr/>
            <p:nvPr/>
          </p:nvSpPr>
          <p:spPr bwMode="auto">
            <a:xfrm>
              <a:off x="6299200" y="1327150"/>
              <a:ext cx="1828800" cy="18288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41EE6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36B26FB-B3D7-724E-36FD-BA228D724870}"/>
                </a:ext>
              </a:extLst>
            </p:cNvPr>
            <p:cNvSpPr/>
            <p:nvPr/>
          </p:nvSpPr>
          <p:spPr bwMode="auto">
            <a:xfrm>
              <a:off x="6756400" y="1860550"/>
              <a:ext cx="203200" cy="203200"/>
            </a:xfrm>
            <a:prstGeom prst="ellipse">
              <a:avLst/>
            </a:prstGeom>
            <a:solidFill>
              <a:srgbClr val="41EE6A"/>
            </a:solidFill>
            <a:ln w="76200" cap="flat" cmpd="sng" algn="ctr">
              <a:solidFill>
                <a:srgbClr val="41EE6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67498C3-D33A-5EC6-43A8-947323868EAD}"/>
                </a:ext>
              </a:extLst>
            </p:cNvPr>
            <p:cNvSpPr/>
            <p:nvPr/>
          </p:nvSpPr>
          <p:spPr bwMode="auto">
            <a:xfrm>
              <a:off x="7416800" y="1860550"/>
              <a:ext cx="203200" cy="203200"/>
            </a:xfrm>
            <a:prstGeom prst="ellipse">
              <a:avLst/>
            </a:prstGeom>
            <a:solidFill>
              <a:srgbClr val="41EE6A"/>
            </a:solidFill>
            <a:ln w="76200" cap="flat" cmpd="sng" algn="ctr">
              <a:solidFill>
                <a:srgbClr val="41EE6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Block Arc 38">
              <a:extLst>
                <a:ext uri="{FF2B5EF4-FFF2-40B4-BE49-F238E27FC236}">
                  <a16:creationId xmlns:a16="http://schemas.microsoft.com/office/drawing/2014/main" id="{8E8F2057-2AED-8628-136F-72BE4556AB66}"/>
                </a:ext>
              </a:extLst>
            </p:cNvPr>
            <p:cNvSpPr/>
            <p:nvPr/>
          </p:nvSpPr>
          <p:spPr bwMode="auto">
            <a:xfrm rot="10800000">
              <a:off x="6858000" y="2165350"/>
              <a:ext cx="717550" cy="577850"/>
            </a:xfrm>
            <a:prstGeom prst="blockArc">
              <a:avLst>
                <a:gd name="adj1" fmla="val 10800000"/>
                <a:gd name="adj2" fmla="val 0"/>
                <a:gd name="adj3" fmla="val 25000"/>
              </a:avLst>
            </a:prstGeom>
            <a:solidFill>
              <a:srgbClr val="41EE6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25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8" name="Rounded Rectangular Callout 47">
            <a:extLst>
              <a:ext uri="{FF2B5EF4-FFF2-40B4-BE49-F238E27FC236}">
                <a16:creationId xmlns:a16="http://schemas.microsoft.com/office/drawing/2014/main" id="{30C5851F-C9CC-C9C7-7150-680F512B6A36}"/>
              </a:ext>
            </a:extLst>
          </p:cNvPr>
          <p:cNvSpPr/>
          <p:nvPr/>
        </p:nvSpPr>
        <p:spPr>
          <a:xfrm>
            <a:off x="1104900" y="3846949"/>
            <a:ext cx="2198282" cy="1026249"/>
          </a:xfrm>
          <a:prstGeom prst="wedgeRoundRectCallout">
            <a:avLst>
              <a:gd name="adj1" fmla="val 159248"/>
              <a:gd name="adj2" fmla="val 127801"/>
              <a:gd name="adj3" fmla="val 16667"/>
            </a:avLst>
          </a:prstGeom>
          <a:solidFill>
            <a:srgbClr val="E7E6E6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“</a:t>
            </a:r>
            <a:r>
              <a:rPr lang="en-US" sz="1400" b="0" i="0">
                <a:solidFill>
                  <a:srgbClr val="414141"/>
                </a:solidFill>
                <a:effectLst/>
                <a:latin typeface="Calibri" panose="020F0502020204030204" pitchFamily="34" charset="0"/>
              </a:rPr>
              <a:t>Many crossed boundaries, some had no home. Some were too vague.</a:t>
            </a:r>
            <a:r>
              <a:rPr lang="en-US" sz="1400"/>
              <a:t>”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7C97A474-35E1-0A46-8835-C9FDC6196377}"/>
              </a:ext>
            </a:extLst>
          </p:cNvPr>
          <p:cNvSpPr/>
          <p:nvPr/>
        </p:nvSpPr>
        <p:spPr>
          <a:xfrm>
            <a:off x="3683167" y="3232372"/>
            <a:ext cx="3124047" cy="1551424"/>
          </a:xfrm>
          <a:prstGeom prst="wedgeRoundRectCallout">
            <a:avLst>
              <a:gd name="adj1" fmla="val 29801"/>
              <a:gd name="adj2" fmla="val 84392"/>
              <a:gd name="adj3" fmla="val 16667"/>
            </a:avLst>
          </a:prstGeom>
          <a:solidFill>
            <a:srgbClr val="E7E6E6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“</a:t>
            </a:r>
            <a:r>
              <a:rPr lang="en-US" sz="1400" b="0" i="0">
                <a:solidFill>
                  <a:srgbClr val="414141"/>
                </a:solidFill>
                <a:effectLst/>
                <a:latin typeface="Calibri" panose="020F0502020204030204" pitchFamily="34" charset="0"/>
              </a:rPr>
              <a:t>Do we really want to limit ourselves to keywords? Would we not do better within a machine learning context mining the entire Project Summary and Project Description to help identify logical areas of expertise?</a:t>
            </a:r>
            <a:r>
              <a:rPr lang="en-US" sz="140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8760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15B2-0D6B-B34E-8D5E-359FB18A2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 sz="3100"/>
              <a:t>Next Steps</a:t>
            </a:r>
            <a:r>
              <a:rPr lang="en-US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83A62-9880-1B47-A9A6-03F4F7C45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lIns="91440" tIns="45720" rIns="91440" bIns="45720" anchor="t"/>
          <a:lstStyle/>
          <a:p>
            <a:pPr>
              <a:spcBef>
                <a:spcPts val="1680"/>
              </a:spcBef>
            </a:pPr>
            <a:r>
              <a:rPr lang="en-US" sz="2000" b="1"/>
              <a:t>The Team will:</a:t>
            </a:r>
          </a:p>
          <a:p>
            <a:pPr lvl="1">
              <a:spcBef>
                <a:spcPts val="1680"/>
              </a:spcBef>
            </a:pPr>
            <a:r>
              <a:rPr lang="en-US" sz="2000"/>
              <a:t>Identify cards that caused the most confusion and discover additional trends</a:t>
            </a:r>
            <a:endParaRPr lang="en-US" sz="2000">
              <a:cs typeface="Arial"/>
            </a:endParaRPr>
          </a:p>
          <a:p>
            <a:pPr lvl="1">
              <a:spcBef>
                <a:spcPts val="1680"/>
              </a:spcBef>
            </a:pPr>
            <a:r>
              <a:rPr lang="en-US" sz="2000"/>
              <a:t>Explore alternative strategies for surfacing areas of expertise</a:t>
            </a:r>
            <a:endParaRPr lang="en-US" sz="2000">
              <a:cs typeface="Arial"/>
            </a:endParaRPr>
          </a:p>
          <a:p>
            <a:pPr lvl="1">
              <a:spcBef>
                <a:spcPts val="1680"/>
              </a:spcBef>
            </a:pPr>
            <a:r>
              <a:rPr lang="en-US" sz="2000"/>
              <a:t>Create wireframes with recommendations and present to DIS and working group</a:t>
            </a:r>
            <a:endParaRPr lang="en-US" sz="2000">
              <a:cs typeface="Arial"/>
            </a:endParaRPr>
          </a:p>
          <a:p>
            <a:pPr lvl="1">
              <a:spcBef>
                <a:spcPts val="1680"/>
              </a:spcBef>
            </a:pPr>
            <a:r>
              <a:rPr lang="en-US" sz="2000">
                <a:ea typeface="+mn-lt"/>
                <a:cs typeface="+mn-lt"/>
              </a:rPr>
              <a:t>Consider validating changes with users Post-MVP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85FBD-52DD-2542-A8E3-10D1ECADB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fld id="{F50907F8-D3B6-AF4F-BF9E-DF55A6A3B77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 fontAlgn="auto">
                <a:spcBef>
                  <a:spcPts val="0"/>
                </a:spcBef>
                <a:spcAft>
                  <a:spcPts val="0"/>
                </a:spcAft>
              </a:pPr>
              <a:t>17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72645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2500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2500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2500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2500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TaxCatchAll xmlns="e078dae3-fac6-41db-8ea0-fcbb188eb723" xsi:nil="true"/>
    <lcf76f155ced4ddcb4097134ff3c332f xmlns="ee6d4525-faa8-42cf-be15-ce42a29337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3246A6550A31468BAC1FFEA2B6F747" ma:contentTypeVersion="13" ma:contentTypeDescription="Create a new document." ma:contentTypeScope="" ma:versionID="bb26a18f6b08c3e0469dce60f00577de">
  <xsd:schema xmlns:xsd="http://www.w3.org/2001/XMLSchema" xmlns:xs="http://www.w3.org/2001/XMLSchema" xmlns:p="http://schemas.microsoft.com/office/2006/metadata/properties" xmlns:ns2="ee6d4525-faa8-42cf-be15-ce42a29337a3" xmlns:ns3="e078dae3-fac6-41db-8ea0-fcbb188eb723" targetNamespace="http://schemas.microsoft.com/office/2006/metadata/properties" ma:root="true" ma:fieldsID="8fbcd814f493ec4d948f748a78d1ecb5" ns2:_="" ns3:_="">
    <xsd:import namespace="ee6d4525-faa8-42cf-be15-ce42a29337a3"/>
    <xsd:import namespace="e078dae3-fac6-41db-8ea0-fcbb188eb7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6d4525-faa8-42cf-be15-ce42a29337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23960b3-8d78-4481-b360-8436e3ff89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78dae3-fac6-41db-8ea0-fcbb188eb72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42383d6-d5d0-4993-adc5-25421fe8541c}" ma:internalName="TaxCatchAll" ma:showField="CatchAllData" ma:web="e078dae3-fac6-41db-8ea0-fcbb188eb7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2B4485-2DAD-4DD2-8EED-E164FBF5C2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E99EDB-92EA-47A8-92D2-4BC1FC8D853B}">
  <ds:schemaRefs>
    <ds:schemaRef ds:uri="e078dae3-fac6-41db-8ea0-fcbb188eb723"/>
    <ds:schemaRef ds:uri="ee6d4525-faa8-42cf-be15-ce42a29337a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B00F510-647D-4AFD-9AB3-7A1A94386B77}">
  <ds:schemaRefs>
    <ds:schemaRef ds:uri="e078dae3-fac6-41db-8ea0-fcbb188eb723"/>
    <ds:schemaRef ds:uri="ee6d4525-faa8-42cf-be15-ce42a29337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17</Slides>
  <Notes>8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1_Office Theme</vt:lpstr>
      <vt:lpstr>Custom Design</vt:lpstr>
      <vt:lpstr>2_Default Design</vt:lpstr>
      <vt:lpstr>Default Design</vt:lpstr>
      <vt:lpstr>Disciplines (Areas of Expertise) Menu Card Sorting Study: Summary &amp; Findings</vt:lpstr>
      <vt:lpstr>Card Sorting Study Overview</vt:lpstr>
      <vt:lpstr>Card Sorting Study Overview</vt:lpstr>
      <vt:lpstr>Card Sorting Study Overview</vt:lpstr>
      <vt:lpstr>Card Sorting Participants</vt:lpstr>
      <vt:lpstr>Card Sorting Participants</vt:lpstr>
      <vt:lpstr>Card Sorting Participants</vt:lpstr>
      <vt:lpstr>Participant Feedback</vt:lpstr>
      <vt:lpstr>Participant Feedback</vt:lpstr>
      <vt:lpstr>Participant Feedback</vt:lpstr>
      <vt:lpstr>Key Findings: Users vs. NSF</vt:lpstr>
      <vt:lpstr>PowerPoint Presentation</vt:lpstr>
      <vt:lpstr>Key Findings</vt:lpstr>
      <vt:lpstr>Key Findings</vt:lpstr>
      <vt:lpstr>Key Findings</vt:lpstr>
      <vt:lpstr>Participant Comments</vt:lpstr>
      <vt:lpstr>Next Steps </vt:lpstr>
    </vt:vector>
  </TitlesOfParts>
  <Company>Booz Allen Hamilton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PARS SID Integrated Session 1</dc:title>
  <dc:creator>Eric Robbins</dc:creator>
  <cp:revision>14</cp:revision>
  <cp:lastPrinted>2015-09-10T12:55:38Z</cp:lastPrinted>
  <dcterms:created xsi:type="dcterms:W3CDTF">2008-06-09T20:31:00Z</dcterms:created>
  <dcterms:modified xsi:type="dcterms:W3CDTF">2022-12-16T14:37:49Z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0x010100155373B8C23666499EDC587AB561892E</vt:lpwstr>
  </property>
  <property fmtid="{D5CDD505-2E9C-101B-9397-08002B2CF9AE}" pid="3" name="TitusGUID">
    <vt:lpwstr>7b636194-2acd-415e-b0d7-780c7f5f9bc0</vt:lpwstr>
  </property>
  <property fmtid="{D5CDD505-2E9C-101B-9397-08002B2CF9AE}" pid="4" name="ContainsCUI">
    <vt:lpwstr>No</vt:lpwstr>
  </property>
</Properties>
</file>